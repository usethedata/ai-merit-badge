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336" r:id="rId32"/>
    <p:sldId id="337"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32" r:id="rId49"/>
    <p:sldId id="302" r:id="rId50"/>
    <p:sldId id="338" r:id="rId51"/>
    <p:sldId id="303" r:id="rId52"/>
    <p:sldId id="304" r:id="rId53"/>
    <p:sldId id="305" r:id="rId54"/>
    <p:sldId id="306" r:id="rId55"/>
    <p:sldId id="307" r:id="rId56"/>
    <p:sldId id="308" r:id="rId57"/>
    <p:sldId id="309" r:id="rId58"/>
    <p:sldId id="333" r:id="rId59"/>
    <p:sldId id="310" r:id="rId60"/>
    <p:sldId id="339" r:id="rId61"/>
    <p:sldId id="311" r:id="rId62"/>
    <p:sldId id="312" r:id="rId63"/>
    <p:sldId id="313" r:id="rId64"/>
    <p:sldId id="314" r:id="rId65"/>
    <p:sldId id="315" r:id="rId66"/>
    <p:sldId id="316" r:id="rId67"/>
    <p:sldId id="317" r:id="rId68"/>
    <p:sldId id="334" r:id="rId69"/>
    <p:sldId id="319" r:id="rId70"/>
    <p:sldId id="320" r:id="rId71"/>
    <p:sldId id="321" r:id="rId72"/>
    <p:sldId id="322" r:id="rId73"/>
    <p:sldId id="323" r:id="rId74"/>
    <p:sldId id="324" r:id="rId75"/>
    <p:sldId id="325" r:id="rId76"/>
    <p:sldId id="340" r:id="rId77"/>
    <p:sldId id="341" r:id="rId78"/>
    <p:sldId id="342" r:id="rId79"/>
    <p:sldId id="327" r:id="rId80"/>
    <p:sldId id="328" r:id="rId81"/>
    <p:sldId id="329" r:id="rId82"/>
    <p:sldId id="330" r:id="rId83"/>
    <p:sldId id="331" r:id="rId8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925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4D0F-DB67-8437-EBCB-13D87CB56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C4AEE-BE1F-30A4-ACF4-0408ED9EA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D8AEF-7CB0-01A3-F654-B605F5A104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2020DC-D56D-9770-014B-8902275258F4}"/>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2916908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7993488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23AB6-549F-E5C2-2578-65E196583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A7BB9-A2BE-E494-6DE1-12FAD3613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F3595-BCE6-B0FE-7AD1-655B7CF213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4BF14F-14F6-B8BC-31CD-B6102B57AEBB}"/>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8685657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3731-B791-7164-3FF8-724DA4011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3EAD8-1733-CE16-35EA-6B73B3D8C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3F9CF-B370-DD1C-BFAD-DC85B69B7C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306CAE-B27E-67CF-EAAD-4585C187E10C}"/>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973362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C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TR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22960" y="2651760"/>
            <a:ext cx="10515600" cy="3657600"/>
          </a:xfrm>
          <a:prstGeom prst="rect">
            <a:avLst/>
          </a:prstGeom>
          <a:noFill/>
          <a:ln/>
        </p:spPr>
        <p:txBody>
          <a:bodyPr wrap="square" rtlCol="0"/>
          <a:lstStyle>
            <a:lvl1pPr marL="342900" indent="-342900">
              <a:buSzPct val="100000"/>
              <a:buChar char="•"/>
              <a:defRPr lang="en-US" sz="3000" dirty="0">
                <a:solidFill>
                  <a:srgbClr val="000000"/>
                </a:solidFill>
                <a:latin typeface="Arial" pitchFamily="34" charset="0"/>
                <a:ea typeface="Arial" pitchFamily="34" charset="-122"/>
                <a:cs typeface="Arial" pitchFamily="34" charset="-120"/>
              </a:defRPr>
            </a:lvl1pPr>
          </a:lstStyle>
          <a:p>
            <a:pPr marL="342900" indent="-342900">
              <a:buSzPct val="100000"/>
              <a:buChar char="•"/>
            </a:pPr>
            <a:r>
              <a:rPr lang="en-US" sz="3000" dirty="0">
                <a:solidFill>
                  <a:srgbClr val="000000"/>
                </a:solidFill>
                <a:latin typeface="Arial" pitchFamily="34" charset="0"/>
                <a:ea typeface="Arial" pitchFamily="34" charset="-122"/>
                <a:cs typeface="Arial" pitchFamily="34" charset="-120"/>
              </a:rPr>
              <a:t>Add ideas here</a:t>
            </a: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ilestore.scouting.org/filestore/Merit_Badge_ReqandRes/Digital-Resources-for-Artificial-Intelligence-Merit-Badge-Counselors.pdf"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hyperlink" Target="https://filestore.scouting.org/filestore/Merit_Badge_ReqandRes/Note-to-Counselor-Artificial-Intelligence-(AI)-Merit-Badge.pdf"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822960" y="647596"/>
            <a:ext cx="10515600" cy="1371600"/>
          </a:xfrm>
          <a:prstGeom prst="rect">
            <a:avLst/>
          </a:prstGeom>
          <a:noFill/>
          <a:ln/>
        </p:spPr>
        <p:txBody>
          <a:bodyPr wrap="square" lIns="0" tIns="0" rIns="0" bIns="0" rtlCol="0" anchor="ctr"/>
          <a:lstStyle/>
          <a:p>
            <a:pPr marL="0" indent="0" algn="ctr">
              <a:buNone/>
            </a:pPr>
            <a:r>
              <a:rPr lang="en-US" sz="7200" b="1" dirty="0">
                <a:solidFill>
                  <a:srgbClr val="000000"/>
                </a:solidFill>
                <a:latin typeface="Arial" pitchFamily="34" charset="0"/>
                <a:ea typeface="Arial" pitchFamily="34" charset="-122"/>
                <a:cs typeface="Arial" pitchFamily="34" charset="-120"/>
              </a:rPr>
              <a:t>AI Merit Badge</a:t>
            </a:r>
            <a:endParaRPr lang="en-US" sz="7200" dirty="0"/>
          </a:p>
        </p:txBody>
      </p:sp>
      <p:sp>
        <p:nvSpPr>
          <p:cNvPr id="3" name="Presenter"/>
          <p:cNvSpPr txBox="1"/>
          <p:nvPr/>
        </p:nvSpPr>
        <p:spPr>
          <a:xfrm>
            <a:off x="822960" y="2110636"/>
            <a:ext cx="10515600" cy="731520"/>
          </a:xfrm>
          <a:prstGeom prst="rect">
            <a:avLst/>
          </a:prstGeom>
          <a:noFill/>
          <a:ln/>
        </p:spPr>
        <p:txBody>
          <a:bodyPr wrap="square" lIns="0" tIns="0" rIns="0" bIns="0" rtlCol="0" anchor="ctr"/>
          <a:lstStyle/>
          <a:p>
            <a:pPr marL="0" indent="0" algn="ctr">
              <a:buNone/>
            </a:pPr>
            <a:r>
              <a:rPr lang="en-US" sz="4000" b="1" dirty="0">
                <a:solidFill>
                  <a:srgbClr val="E26310"/>
                </a:solidFill>
                <a:latin typeface="Arial" pitchFamily="34" charset="0"/>
                <a:ea typeface="Arial" pitchFamily="34" charset="-122"/>
                <a:cs typeface="Arial" pitchFamily="34" charset="-120"/>
              </a:rPr>
              <a:t>Bruce E. Wilson</a:t>
            </a:r>
            <a:endParaRPr lang="en-US" sz="4000" dirty="0"/>
          </a:p>
        </p:txBody>
      </p:sp>
      <p:sp>
        <p:nvSpPr>
          <p:cNvPr id="4" name="Event"/>
          <p:cNvSpPr txBox="1"/>
          <p:nvPr/>
        </p:nvSpPr>
        <p:spPr>
          <a:xfrm>
            <a:off x="822960" y="2933596"/>
            <a:ext cx="10515600" cy="1509386"/>
          </a:xfrm>
          <a:prstGeom prst="rect">
            <a:avLst/>
          </a:prstGeom>
          <a:noFill/>
          <a:ln/>
        </p:spPr>
        <p:txBody>
          <a:bodyPr wrap="square" lIns="0" tIns="0" rIns="0" bIns="0" rtlCol="0" anchor="t"/>
          <a:lstStyle/>
          <a:p>
            <a:pPr marL="0" indent="0" algn="ctr">
              <a:spcAft>
                <a:spcPts val="600"/>
              </a:spcAft>
              <a:buNone/>
            </a:pPr>
            <a:r>
              <a:rPr lang="en-US" sz="2800" dirty="0">
                <a:solidFill>
                  <a:srgbClr val="000000"/>
                </a:solidFill>
                <a:latin typeface="Arial" pitchFamily="34" charset="0"/>
                <a:ea typeface="Arial" pitchFamily="34" charset="-122"/>
                <a:cs typeface="Arial" pitchFamily="34" charset="-120"/>
              </a:rPr>
              <a:t>Great Smoky Mountains Council</a:t>
            </a:r>
            <a:endParaRPr lang="en-US" sz="2800" dirty="0"/>
          </a:p>
          <a:p>
            <a:pPr marL="0" indent="0" algn="ctr">
              <a:spcAft>
                <a:spcPts val="600"/>
              </a:spcAft>
              <a:buNone/>
            </a:pPr>
            <a:r>
              <a:rPr lang="en-US" sz="2800" dirty="0">
                <a:solidFill>
                  <a:srgbClr val="000000"/>
                </a:solidFill>
                <a:latin typeface="Arial" pitchFamily="34" charset="0"/>
                <a:ea typeface="Arial" pitchFamily="34" charset="-122"/>
                <a:cs typeface="Arial" pitchFamily="34" charset="-120"/>
              </a:rPr>
              <a:t>Fall 2026 Leadership Summit</a:t>
            </a:r>
            <a:endParaRPr lang="en-US" sz="2800" dirty="0"/>
          </a:p>
          <a:p>
            <a:pPr marL="0" indent="0" algn="ctr">
              <a:spcAft>
                <a:spcPts val="600"/>
              </a:spcAft>
              <a:buNone/>
            </a:pPr>
            <a:r>
              <a:rPr lang="en-US" sz="2800" dirty="0">
                <a:solidFill>
                  <a:srgbClr val="000000"/>
                </a:solidFill>
                <a:latin typeface="Arial" pitchFamily="34" charset="0"/>
                <a:ea typeface="Arial" pitchFamily="34" charset="-122"/>
                <a:cs typeface="Arial" pitchFamily="34" charset="-120"/>
              </a:rPr>
              <a:t>October 3, 2026</a:t>
            </a:r>
            <a:endParaRPr lang="en-US" sz="2800" dirty="0"/>
          </a:p>
        </p:txBody>
      </p:sp>
      <p:sp>
        <p:nvSpPr>
          <p:cNvPr id="5" name="Acknowledgement"/>
          <p:cNvSpPr txBox="1"/>
          <p:nvPr/>
        </p:nvSpPr>
        <p:spPr>
          <a:xfrm>
            <a:off x="407323" y="5248406"/>
            <a:ext cx="9175088" cy="1509386"/>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This slide deck was created with assistance from Claude </a:t>
            </a:r>
            <a:r>
              <a:rPr lang="en-US" sz="1600" i="1" dirty="0" err="1">
                <a:solidFill>
                  <a:srgbClr val="000000"/>
                </a:solidFill>
                <a:latin typeface="Arial" pitchFamily="34" charset="0"/>
                <a:ea typeface="Arial" pitchFamily="34" charset="-122"/>
                <a:cs typeface="Arial" pitchFamily="34" charset="-120"/>
              </a:rPr>
              <a:t>Cowork</a:t>
            </a:r>
            <a:r>
              <a:rPr lang="en-US" sz="1600" i="1" dirty="0">
                <a:solidFill>
                  <a:srgbClr val="000000"/>
                </a:solidFill>
                <a:latin typeface="Arial" pitchFamily="34" charset="0"/>
                <a:ea typeface="Arial" pitchFamily="34" charset="-122"/>
                <a:cs typeface="Arial" pitchFamily="34" charset="-120"/>
              </a:rPr>
              <a:t> using Sonnet 5.5. </a:t>
            </a:r>
          </a:p>
          <a:p>
            <a:r>
              <a:rPr lang="en-US" sz="1600" i="1" dirty="0">
                <a:solidFill>
                  <a:srgbClr val="000000"/>
                </a:solidFill>
                <a:latin typeface="Arial" pitchFamily="34" charset="0"/>
                <a:ea typeface="Arial" pitchFamily="34" charset="-122"/>
                <a:cs typeface="Arial" pitchFamily="34" charset="-120"/>
              </a:rPr>
              <a:t>Some content is from links provided in Scouting's </a:t>
            </a:r>
            <a:r>
              <a:rPr lang="en-US" sz="1600" i="1" dirty="0">
                <a:solidFill>
                  <a:srgbClr val="000000"/>
                </a:solidFill>
                <a:latin typeface="Arial" pitchFamily="34" charset="0"/>
                <a:ea typeface="Arial" pitchFamily="34" charset="-122"/>
                <a:cs typeface="Arial" pitchFamily="34" charset="-120"/>
                <a:hlinkClick r:id="rId3"/>
              </a:rPr>
              <a:t>Digital Resources for AI Merit Badge Counselors</a:t>
            </a:r>
            <a:br>
              <a:rPr lang="en-US" sz="1600" i="1" dirty="0">
                <a:solidFill>
                  <a:srgbClr val="000000"/>
                </a:solidFill>
                <a:latin typeface="Arial" pitchFamily="34" charset="0"/>
                <a:ea typeface="Arial" pitchFamily="34" charset="-122"/>
                <a:cs typeface="Arial" pitchFamily="34" charset="-120"/>
              </a:rPr>
            </a:br>
            <a:r>
              <a:rPr lang="en-US" sz="1600" i="1" dirty="0">
                <a:solidFill>
                  <a:srgbClr val="000000"/>
                </a:solidFill>
                <a:latin typeface="Arial" pitchFamily="34" charset="0"/>
                <a:ea typeface="Arial" pitchFamily="34" charset="-122"/>
                <a:cs typeface="Arial" pitchFamily="34" charset="-120"/>
              </a:rPr>
              <a:t>Some content is from Scouting’s </a:t>
            </a:r>
            <a:r>
              <a:rPr lang="en-US" sz="1600" i="1" dirty="0">
                <a:solidFill>
                  <a:srgbClr val="000000"/>
                </a:solidFill>
                <a:latin typeface="Arial" pitchFamily="34" charset="0"/>
                <a:ea typeface="Arial" pitchFamily="34" charset="-122"/>
                <a:cs typeface="Arial" pitchFamily="34" charset="-120"/>
                <a:hlinkClick r:id="rId4"/>
              </a:rPr>
              <a:t>Note to Counselor: AI Merit Badge</a:t>
            </a:r>
            <a:br>
              <a:rPr lang="en-US" sz="1600" i="1" dirty="0">
                <a:solidFill>
                  <a:srgbClr val="000000"/>
                </a:solidFill>
                <a:latin typeface="Arial" pitchFamily="34" charset="0"/>
                <a:ea typeface="Arial" pitchFamily="34" charset="-122"/>
                <a:cs typeface="Arial" pitchFamily="34" charset="-120"/>
              </a:rPr>
            </a:br>
            <a:endParaRPr lang="en-US" sz="1600" i="1" dirty="0">
              <a:solidFill>
                <a:srgbClr val="000000"/>
              </a:solidFill>
              <a:latin typeface="Arial" pitchFamily="34" charset="0"/>
              <a:ea typeface="Arial" pitchFamily="34" charset="-122"/>
              <a:cs typeface="Arial" pitchFamily="34" charset="-120"/>
            </a:endParaRPr>
          </a:p>
          <a:p>
            <a:r>
              <a:rPr lang="en-US" sz="1600" i="1" dirty="0">
                <a:solidFill>
                  <a:srgbClr val="000000"/>
                </a:solidFill>
                <a:latin typeface="Arial" pitchFamily="34" charset="0"/>
                <a:ea typeface="Arial" pitchFamily="34" charset="-122"/>
                <a:cs typeface="Arial" pitchFamily="34" charset="-120"/>
              </a:rPr>
              <a:t>Portions copyright © 2026 Bruce E. Wilson</a:t>
            </a:r>
          </a:p>
          <a:p>
            <a:r>
              <a:rPr lang="en-US" sz="1600" i="1" dirty="0">
                <a:solidFill>
                  <a:srgbClr val="000000"/>
                </a:solidFill>
                <a:latin typeface="Arial" pitchFamily="34" charset="0"/>
                <a:ea typeface="Arial" pitchFamily="34" charset="-122"/>
                <a:cs typeface="Arial" pitchFamily="34" charset="-120"/>
              </a:rPr>
              <a:t>Reuse permitted under the Creative Commons Attribution license (CC BY 4.0)</a:t>
            </a:r>
            <a:endParaRPr lang="en-US" sz="1600" dirty="0"/>
          </a:p>
        </p:txBody>
      </p:sp>
      <p:pic>
        <p:nvPicPr>
          <p:cNvPr id="12" name="Picture 11" descr="Logo for the CC-BY license.">
            <a:extLst>
              <a:ext uri="{FF2B5EF4-FFF2-40B4-BE49-F238E27FC236}">
                <a16:creationId xmlns:a16="http://schemas.microsoft.com/office/drawing/2014/main" id="{72A7C29A-4010-4D62-ABB5-73A794870D7E}"/>
              </a:ext>
            </a:extLst>
          </p:cNvPr>
          <p:cNvPicPr>
            <a:picLocks noChangeAspect="1"/>
          </p:cNvPicPr>
          <p:nvPr/>
        </p:nvPicPr>
        <p:blipFill>
          <a:blip r:embed="rId5"/>
          <a:stretch>
            <a:fillRect/>
          </a:stretch>
        </p:blipFill>
        <p:spPr>
          <a:xfrm>
            <a:off x="10624166" y="6285828"/>
            <a:ext cx="1372985" cy="471964"/>
          </a:xfrm>
          <a:prstGeom prst="rect">
            <a:avLst/>
          </a:prstGeom>
        </p:spPr>
      </p:pic>
      <p:pic>
        <p:nvPicPr>
          <p:cNvPr id="14" name="Picture 13" descr="Great Smoky Mountain Council, Scouting America">
            <a:extLst>
              <a:ext uri="{FF2B5EF4-FFF2-40B4-BE49-F238E27FC236}">
                <a16:creationId xmlns:a16="http://schemas.microsoft.com/office/drawing/2014/main" id="{09D61612-8163-4AF5-3E16-BD54B6E15B47}"/>
              </a:ext>
            </a:extLst>
          </p:cNvPr>
          <p:cNvPicPr>
            <a:picLocks noChangeAspect="1"/>
          </p:cNvPicPr>
          <p:nvPr/>
        </p:nvPicPr>
        <p:blipFill>
          <a:blip r:embed="rId6"/>
          <a:stretch>
            <a:fillRect/>
          </a:stretch>
        </p:blipFill>
        <p:spPr>
          <a:xfrm>
            <a:off x="194849" y="176059"/>
            <a:ext cx="1828800" cy="1828800"/>
          </a:xfrm>
          <a:prstGeom prst="rect">
            <a:avLst/>
          </a:prstGeom>
        </p:spPr>
      </p:pic>
      <p:pic>
        <p:nvPicPr>
          <p:cNvPr id="17" name="Picture 16" descr="Boys Scouting Of American Logo PNG Vector">
            <a:extLst>
              <a:ext uri="{FF2B5EF4-FFF2-40B4-BE49-F238E27FC236}">
                <a16:creationId xmlns:a16="http://schemas.microsoft.com/office/drawing/2014/main" id="{31C8B53F-C592-0080-A368-877984854123}"/>
              </a:ext>
            </a:extLst>
          </p:cNvPr>
          <p:cNvPicPr>
            <a:picLocks noChangeAspect="1"/>
          </p:cNvPicPr>
          <p:nvPr/>
        </p:nvPicPr>
        <p:blipFill>
          <a:blip r:embed="rId7"/>
          <a:stretch>
            <a:fillRect/>
          </a:stretch>
        </p:blipFill>
        <p:spPr>
          <a:xfrm>
            <a:off x="10409129" y="113768"/>
            <a:ext cx="1588022" cy="18465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000" b="1" dirty="0">
                <a:solidFill>
                  <a:srgbClr val="000000"/>
                </a:solidFill>
                <a:latin typeface="Arial" pitchFamily="34" charset="0"/>
                <a:ea typeface="Arial" pitchFamily="34" charset="-122"/>
                <a:cs typeface="Arial" pitchFamily="34" charset="-120"/>
              </a:rPr>
              <a:t>Introductions and Getting Started</a:t>
            </a:r>
            <a:endParaRPr lang="en-US" sz="5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Who am I?  Scouting</a:t>
            </a:r>
            <a:endParaRPr lang="en-US" sz="4400" dirty="0"/>
          </a:p>
        </p:txBody>
      </p:sp>
      <p:sp>
        <p:nvSpPr>
          <p:cNvPr id="3" name="Body"/>
          <p:cNvSpPr txBox="1"/>
          <p:nvPr/>
        </p:nvSpPr>
        <p:spPr>
          <a:xfrm>
            <a:off x="822960" y="2011680"/>
            <a:ext cx="10515600" cy="4297680"/>
          </a:xfrm>
          <a:prstGeom prst="rect">
            <a:avLst/>
          </a:prstGeom>
          <a:noFill/>
          <a:ln/>
        </p:spPr>
        <p:txBody>
          <a:bodyPr wrap="square" lIns="0" tIns="0" rIns="0" bIns="0" rtlCol="0" anchor="t"/>
          <a:lstStyle/>
          <a:p>
            <a:pPr marL="381000" indent="-381000" algn="l">
              <a:spcAft>
                <a:spcPts val="1600"/>
              </a:spcAft>
              <a:buSzPct val="100000"/>
              <a:buChar char="•"/>
            </a:pPr>
            <a:r>
              <a:rPr lang="en-US" sz="3600" dirty="0"/>
              <a:t>&lt;your info here&gt;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Who am I?  Professional</a:t>
            </a:r>
            <a:endParaRPr lang="en-US" sz="4400" dirty="0"/>
          </a:p>
        </p:txBody>
      </p:sp>
      <p:sp>
        <p:nvSpPr>
          <p:cNvPr id="3" name="Body"/>
          <p:cNvSpPr txBox="1"/>
          <p:nvPr/>
        </p:nvSpPr>
        <p:spPr>
          <a:xfrm>
            <a:off x="822960" y="2011680"/>
            <a:ext cx="10515600" cy="4297680"/>
          </a:xfrm>
          <a:prstGeom prst="rect">
            <a:avLst/>
          </a:prstGeom>
          <a:noFill/>
          <a:ln/>
        </p:spPr>
        <p:txBody>
          <a:bodyPr wrap="square" lIns="0" tIns="0" rIns="0" bIns="0" rtlCol="0" anchor="t"/>
          <a:lstStyle/>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&lt;your info here&gt;</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Who are you?</a:t>
            </a:r>
            <a:endParaRPr lang="en-US" sz="4400" dirty="0"/>
          </a:p>
        </p:txBody>
      </p:sp>
      <p:sp>
        <p:nvSpPr>
          <p:cNvPr id="3" name="Body"/>
          <p:cNvSpPr txBox="1"/>
          <p:nvPr/>
        </p:nvSpPr>
        <p:spPr>
          <a:xfrm>
            <a:off x="822960" y="2011680"/>
            <a:ext cx="10515600" cy="4297680"/>
          </a:xfrm>
          <a:prstGeom prst="rect">
            <a:avLst/>
          </a:prstGeom>
          <a:noFill/>
          <a:ln/>
        </p:spPr>
        <p:txBody>
          <a:bodyPr wrap="square" lIns="0" tIns="0" rIns="0" bIns="0" rtlCol="0" anchor="t"/>
          <a:lstStyle/>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Name</a:t>
            </a:r>
            <a:endParaRPr lang="en-US" sz="3600" dirty="0"/>
          </a:p>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Troop</a:t>
            </a:r>
            <a:endParaRPr lang="en-US" sz="3600" dirty="0"/>
          </a:p>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How you have used AI</a:t>
            </a:r>
            <a:endParaRPr lang="en-US" sz="3600" dirty="0"/>
          </a:p>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What you most want from this class</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Ground rules</a:t>
            </a:r>
            <a:endParaRPr lang="en-US" sz="4400" dirty="0"/>
          </a:p>
        </p:txBody>
      </p:sp>
      <p:sp>
        <p:nvSpPr>
          <p:cNvPr id="3" name="Body"/>
          <p:cNvSpPr txBox="1"/>
          <p:nvPr/>
        </p:nvSpPr>
        <p:spPr>
          <a:xfrm>
            <a:off x="822960" y="2011680"/>
            <a:ext cx="10515600" cy="4297680"/>
          </a:xfrm>
          <a:prstGeom prst="rect">
            <a:avLst/>
          </a:prstGeom>
          <a:noFill/>
          <a:ln/>
        </p:spPr>
        <p:txBody>
          <a:bodyPr wrap="square" lIns="0" tIns="0" rIns="0" bIns="0" rtlCol="0" anchor="t"/>
          <a:lstStyle/>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Be present</a:t>
            </a:r>
            <a:endParaRPr lang="en-US" sz="3600" dirty="0"/>
          </a:p>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Be polite</a:t>
            </a:r>
            <a:endParaRPr lang="en-US" sz="3600" dirty="0"/>
          </a:p>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There are no stupid questions</a:t>
            </a:r>
            <a:endParaRPr lang="en-US" sz="3600" dirty="0"/>
          </a:p>
          <a:p>
            <a:pPr marL="381000" indent="-381000" algn="l">
              <a:spcAft>
                <a:spcPts val="1600"/>
              </a:spcAft>
              <a:buSzPct val="100000"/>
              <a:buChar char="•"/>
            </a:pPr>
            <a:r>
              <a:rPr lang="en-US" sz="3600" dirty="0">
                <a:solidFill>
                  <a:srgbClr val="000000"/>
                </a:solidFill>
                <a:latin typeface="Arial" pitchFamily="34" charset="0"/>
                <a:ea typeface="Arial" pitchFamily="34" charset="-122"/>
                <a:cs typeface="Arial" pitchFamily="34" charset="-120"/>
              </a:rPr>
              <a:t>There often is not a single “right” answer</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Class overview</a:t>
            </a:r>
            <a:endParaRPr lang="en-US" sz="4400" dirty="0"/>
          </a:p>
        </p:txBody>
      </p:sp>
      <p:sp>
        <p:nvSpPr>
          <p:cNvPr id="3" name="Body"/>
          <p:cNvSpPr txBox="1"/>
          <p:nvPr/>
        </p:nvSpPr>
        <p:spPr>
          <a:xfrm>
            <a:off x="822959" y="2011680"/>
            <a:ext cx="10826245" cy="4297680"/>
          </a:xfrm>
          <a:prstGeom prst="rect">
            <a:avLst/>
          </a:prstGeom>
          <a:noFill/>
          <a:ln/>
        </p:spPr>
        <p:txBody>
          <a:bodyPr wrap="square" lIns="0" tIns="0" rIns="0" bIns="0" rtlCol="0" anchor="t"/>
          <a:lstStyle/>
          <a:p>
            <a:pPr marL="381000" indent="-381000">
              <a:spcAft>
                <a:spcPts val="1600"/>
              </a:spcAft>
              <a:buSzPct val="100000"/>
              <a:buChar char="•"/>
            </a:pPr>
            <a:r>
              <a:rPr lang="en-US" sz="3600" dirty="0">
                <a:solidFill>
                  <a:srgbClr val="000000"/>
                </a:solidFill>
                <a:latin typeface="Arial" pitchFamily="34" charset="0"/>
                <a:ea typeface="Arial" pitchFamily="34" charset="-122"/>
                <a:cs typeface="Arial" pitchFamily="34" charset="-120"/>
              </a:rPr>
              <a:t>In class: Requirements 1–6 (except 4c)</a:t>
            </a:r>
            <a:endParaRPr lang="en-US" sz="3600" dirty="0"/>
          </a:p>
          <a:p>
            <a:pPr marL="381000" indent="-381000">
              <a:spcAft>
                <a:spcPts val="1600"/>
              </a:spcAft>
              <a:buSzPct val="100000"/>
              <a:buChar char="•"/>
            </a:pPr>
            <a:r>
              <a:rPr lang="en-US" sz="3600" dirty="0">
                <a:solidFill>
                  <a:srgbClr val="000000"/>
                </a:solidFill>
                <a:latin typeface="Arial" pitchFamily="34" charset="0"/>
                <a:ea typeface="Arial" pitchFamily="34" charset="-122"/>
                <a:cs typeface="Arial" pitchFamily="34" charset="-120"/>
              </a:rPr>
              <a:t>On your own: 4c, 7 and 8</a:t>
            </a:r>
            <a:endParaRPr lang="en-US" sz="3600" dirty="0"/>
          </a:p>
          <a:p>
            <a:pPr marL="381000" indent="-381000">
              <a:spcAft>
                <a:spcPts val="1600"/>
              </a:spcAft>
              <a:buSzPct val="100000"/>
              <a:buChar char="•"/>
            </a:pPr>
            <a:r>
              <a:rPr lang="en-US" sz="3600" dirty="0">
                <a:solidFill>
                  <a:srgbClr val="000000"/>
                </a:solidFill>
                <a:latin typeface="Arial" pitchFamily="34" charset="0"/>
                <a:ea typeface="Arial" pitchFamily="34" charset="-122"/>
                <a:cs typeface="Arial" pitchFamily="34" charset="-120"/>
              </a:rPr>
              <a:t>Finish with me or a counselor of your choice</a:t>
            </a:r>
          </a:p>
          <a:p>
            <a:pPr marL="381000" indent="-381000">
              <a:spcAft>
                <a:spcPts val="1600"/>
              </a:spcAft>
              <a:buSzPct val="100000"/>
              <a:buChar char="•"/>
            </a:pPr>
            <a:r>
              <a:rPr lang="en-US" sz="3600" dirty="0">
                <a:solidFill>
                  <a:srgbClr val="000000"/>
                </a:solidFill>
                <a:latin typeface="Arial" pitchFamily="34" charset="0"/>
                <a:cs typeface="Arial" pitchFamily="34" charset="-120"/>
              </a:rPr>
              <a:t>&lt;I provided a handout with this info at the end of class&gt;</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6000" b="1" dirty="0">
                <a:solidFill>
                  <a:srgbClr val="000000"/>
                </a:solidFill>
                <a:latin typeface="Arial" pitchFamily="34" charset="0"/>
                <a:ea typeface="Arial" pitchFamily="34" charset="-122"/>
                <a:cs typeface="Arial" pitchFamily="34" charset="-120"/>
              </a:rPr>
              <a:t>Requirement 1: Definitions</a:t>
            </a:r>
            <a:endParaRPr lang="en-US" sz="6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400" b="1" dirty="0">
                <a:solidFill>
                  <a:srgbClr val="E26310"/>
                </a:solidFill>
                <a:latin typeface="Arial" pitchFamily="34" charset="0"/>
                <a:ea typeface="Arial" pitchFamily="34" charset="-122"/>
                <a:cs typeface="Arial" pitchFamily="34" charset="-120"/>
              </a:rPr>
              <a:t>Merit Badge Concepts</a:t>
            </a:r>
            <a:endParaRPr lang="en-US" sz="5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4800" b="1" dirty="0">
                <a:solidFill>
                  <a:srgbClr val="000000"/>
                </a:solidFill>
                <a:latin typeface="Arial" pitchFamily="34" charset="0"/>
                <a:ea typeface="Arial" pitchFamily="34" charset="-122"/>
                <a:cs typeface="Arial" pitchFamily="34" charset="-120"/>
              </a:rPr>
              <a:t>Artificial Intelligence</a:t>
            </a:r>
            <a:endParaRPr lang="en-US" sz="4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Something done using a computer that </a:t>
            </a:r>
            <a:r>
              <a:rPr lang="en-US" sz="3600" b="1" dirty="0">
                <a:solidFill>
                  <a:srgbClr val="E26310"/>
                </a:solidFill>
                <a:latin typeface="Arial" pitchFamily="34" charset="0"/>
                <a:ea typeface="Arial" pitchFamily="34" charset="-122"/>
                <a:cs typeface="Arial" pitchFamily="34" charset="-120"/>
              </a:rPr>
              <a:t>simulates</a:t>
            </a:r>
            <a:r>
              <a:rPr lang="en-US" sz="3600" dirty="0">
                <a:solidFill>
                  <a:srgbClr val="000000"/>
                </a:solidFill>
                <a:latin typeface="Arial" pitchFamily="34" charset="0"/>
                <a:ea typeface="Arial" pitchFamily="34" charset="-122"/>
                <a:cs typeface="Arial" pitchFamily="34" charset="-120"/>
              </a:rPr>
              <a:t> human learning, comprehension, problem solving, decision making, creativity, and/or autonomy</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General AI</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a:t>
            </a:r>
            <a:r>
              <a:rPr lang="en-US" sz="3600" b="1" dirty="0">
                <a:solidFill>
                  <a:srgbClr val="E26310"/>
                </a:solidFill>
                <a:latin typeface="Arial" pitchFamily="34" charset="0"/>
                <a:ea typeface="Arial" pitchFamily="34" charset="-122"/>
                <a:cs typeface="Arial" pitchFamily="34" charset="-120"/>
              </a:rPr>
              <a:t>hypothetical</a:t>
            </a:r>
            <a:r>
              <a:rPr lang="en-US" sz="3600" dirty="0">
                <a:solidFill>
                  <a:srgbClr val="000000"/>
                </a:solidFill>
                <a:latin typeface="Arial" pitchFamily="34" charset="0"/>
                <a:ea typeface="Arial" pitchFamily="34" charset="-122"/>
                <a:cs typeface="Arial" pitchFamily="34" charset="-120"/>
              </a:rPr>
              <a:t> AI system that works across a wide range of tasks at a level comparable to human intelligence</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Also called Artificial General Intelligence</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Narrow AI</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An AI system specialized for specific tasks</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Image recognition, speech to text, software development</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Superintelligent AI</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a:t>
            </a:r>
            <a:r>
              <a:rPr lang="en-US" sz="3600" b="1" dirty="0">
                <a:solidFill>
                  <a:srgbClr val="E26310"/>
                </a:solidFill>
                <a:latin typeface="Arial" pitchFamily="34" charset="0"/>
                <a:ea typeface="Arial" pitchFamily="34" charset="-122"/>
                <a:cs typeface="Arial" pitchFamily="34" charset="-120"/>
              </a:rPr>
              <a:t>hypothetical</a:t>
            </a:r>
            <a:r>
              <a:rPr lang="en-US" sz="3600" dirty="0">
                <a:solidFill>
                  <a:srgbClr val="000000"/>
                </a:solidFill>
                <a:latin typeface="Arial" pitchFamily="34" charset="0"/>
                <a:ea typeface="Arial" pitchFamily="34" charset="-122"/>
                <a:cs typeface="Arial" pitchFamily="34" charset="-120"/>
              </a:rPr>
              <a:t> AI system that far surpasses human minds in virtually all domains</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Machine Learning</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type of AI that “learns” from data without being explicitly programmed for specific tasks</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Not static, hard-coded rules and procedures</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Automation</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Using a computer (or a computer-controlled machine) to perform a task that would otherwise be done by a human</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AI Agent</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An AI system that does things (makes changes) based on general directions</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Bot</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Software that imitates the behavior of a human (e.g., a tech support bot)</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or</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Software that performs automated tasks on the internet (e.g., a search bot)</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Digital Worker</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An AI agent that performs complex end-to-end tasks that would otherwise be done by a human</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Potentially replacing a human in a business environment</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Task</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discrete unit of work</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Trigger</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An event that causes a software process to do something</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Workflow</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set of operations used to complete one or more tasks</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Programming</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Creating and refining the instructions that cause a computer system to do things</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Data</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collection of facts, observations, or other information related to a particular question or problem</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Plural of datum</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Database</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collection of data stored on a computer in an organized fashion</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Variable</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Programming: a named container that holds a value a program can look up and change</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Data: a particular element of a data structure, such as one column in a table</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400" b="1" dirty="0">
                <a:solidFill>
                  <a:srgbClr val="E26310"/>
                </a:solidFill>
                <a:latin typeface="Arial" pitchFamily="34" charset="0"/>
                <a:ea typeface="Arial" pitchFamily="34" charset="-122"/>
                <a:cs typeface="Arial" pitchFamily="34" charset="-120"/>
              </a:rPr>
              <a:t>Additional Concepts</a:t>
            </a:r>
            <a:endParaRPr lang="en-US" sz="5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Sycophant</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cs typeface="Arial" pitchFamily="34" charset="-120"/>
              </a:rPr>
              <a:t>Someone who flatters another excessively.  There are lots of slang terms for this, which have changed over time.</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4800" b="1" dirty="0">
                <a:solidFill>
                  <a:srgbClr val="000000"/>
                </a:solidFill>
                <a:latin typeface="Arial" pitchFamily="34" charset="0"/>
                <a:ea typeface="Arial" pitchFamily="34" charset="-122"/>
                <a:cs typeface="Arial" pitchFamily="34" charset="-120"/>
              </a:rPr>
              <a:t>Large Language Model (LLM)</a:t>
            </a:r>
            <a:endParaRPr lang="en-US" sz="4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A type of AI system trained on enormous amounts of text data to understand and generate human-like language</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5800" b="1" dirty="0">
                <a:solidFill>
                  <a:srgbClr val="000000"/>
                </a:solidFill>
                <a:latin typeface="Arial" pitchFamily="34" charset="0"/>
                <a:ea typeface="Arial" pitchFamily="34" charset="-122"/>
                <a:cs typeface="Arial" pitchFamily="34" charset="-120"/>
              </a:rPr>
              <a:t>Token</a:t>
            </a:r>
            <a:endParaRPr lang="en-US" sz="5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The smallest unit of data an LLM processes</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Usually, a word or part of a word. </a:t>
            </a:r>
          </a:p>
          <a:p>
            <a:pPr marL="0" indent="0" algn="l">
              <a:spcAft>
                <a:spcPts val="1400"/>
              </a:spcAft>
              <a:buNone/>
            </a:pPr>
            <a:r>
              <a:rPr lang="en-US" sz="3600" dirty="0">
                <a:solidFill>
                  <a:srgbClr val="000000"/>
                </a:solidFill>
                <a:latin typeface="Arial" pitchFamily="34" charset="0"/>
                <a:cs typeface="Arial" pitchFamily="34" charset="-120"/>
              </a:rPr>
              <a:t>The number of tokens a LLM can work with is related to the complexity of the tasks it can handle.  And the number of tokens a task requires is related to the cost of executing that task.  </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Concept"/>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4800" b="1" dirty="0">
                <a:solidFill>
                  <a:srgbClr val="000000"/>
                </a:solidFill>
                <a:latin typeface="Arial" pitchFamily="34" charset="0"/>
                <a:ea typeface="Arial" pitchFamily="34" charset="-122"/>
                <a:cs typeface="Arial" pitchFamily="34" charset="-120"/>
              </a:rPr>
              <a:t>Non-deterministic System</a:t>
            </a:r>
            <a:endParaRPr lang="en-US" sz="4800" dirty="0"/>
          </a:p>
        </p:txBody>
      </p:sp>
      <p:sp>
        <p:nvSpPr>
          <p:cNvPr id="3" name="Definition"/>
          <p:cNvSpPr txBox="1"/>
          <p:nvPr/>
        </p:nvSpPr>
        <p:spPr>
          <a:xfrm>
            <a:off x="822960" y="2468880"/>
            <a:ext cx="10515600" cy="3840480"/>
          </a:xfrm>
          <a:prstGeom prst="rect">
            <a:avLst/>
          </a:prstGeom>
          <a:noFill/>
          <a:ln/>
        </p:spPr>
        <p:txBody>
          <a:bodyPr wrap="square" lIns="0" tIns="0" rIns="0" bIns="0" rtlCol="0" anchor="t"/>
          <a:lstStyle/>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The same inputs don’t produce the same output</a:t>
            </a:r>
            <a:endParaRPr lang="en-US" sz="3600" dirty="0"/>
          </a:p>
          <a:p>
            <a:pPr marL="0" indent="0" algn="l">
              <a:spcAft>
                <a:spcPts val="1400"/>
              </a:spcAft>
              <a:buNone/>
            </a:pPr>
            <a:r>
              <a:rPr lang="en-US" sz="3600" dirty="0">
                <a:solidFill>
                  <a:srgbClr val="000000"/>
                </a:solidFill>
                <a:latin typeface="Arial" pitchFamily="34" charset="0"/>
                <a:ea typeface="Arial" pitchFamily="34" charset="-122"/>
                <a:cs typeface="Arial" pitchFamily="34" charset="-120"/>
              </a:rPr>
              <a:t>LLM chatbots usually are non-deterministic</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3CBC-14FF-C8F8-05A4-811E3023A5D6}"/>
            </a:ext>
          </a:extLst>
        </p:cNvPr>
        <p:cNvGrpSpPr/>
        <p:nvPr/>
      </p:nvGrpSpPr>
      <p:grpSpPr>
        <a:xfrm>
          <a:off x="0" y="0"/>
          <a:ext cx="0" cy="0"/>
          <a:chOff x="0" y="0"/>
          <a:chExt cx="0" cy="0"/>
        </a:xfrm>
      </p:grpSpPr>
      <p:sp>
        <p:nvSpPr>
          <p:cNvPr id="2" name="Concept">
            <a:extLst>
              <a:ext uri="{FF2B5EF4-FFF2-40B4-BE49-F238E27FC236}">
                <a16:creationId xmlns:a16="http://schemas.microsoft.com/office/drawing/2014/main" id="{52A39CCE-D512-CEB4-F57A-99480C8B3723}"/>
              </a:ext>
            </a:extLst>
          </p:cNvPr>
          <p:cNvSpPr txBox="1"/>
          <p:nvPr/>
        </p:nvSpPr>
        <p:spPr>
          <a:xfrm>
            <a:off x="822960" y="822960"/>
            <a:ext cx="10515600" cy="1280160"/>
          </a:xfrm>
          <a:prstGeom prst="rect">
            <a:avLst/>
          </a:prstGeom>
          <a:noFill/>
          <a:ln/>
        </p:spPr>
        <p:txBody>
          <a:bodyPr wrap="square" lIns="0" tIns="0" rIns="0" bIns="0" rtlCol="0" anchor="ctr"/>
          <a:lstStyle/>
          <a:p>
            <a:pPr marL="0" indent="0" algn="l">
              <a:buNone/>
            </a:pPr>
            <a:r>
              <a:rPr lang="en-US" sz="4800" b="1" dirty="0">
                <a:solidFill>
                  <a:srgbClr val="000000"/>
                </a:solidFill>
                <a:latin typeface="Arial" pitchFamily="34" charset="0"/>
                <a:ea typeface="Arial" pitchFamily="34" charset="-122"/>
                <a:cs typeface="Arial" pitchFamily="34" charset="-120"/>
              </a:rPr>
              <a:t>The Alignment Problem</a:t>
            </a:r>
            <a:endParaRPr lang="en-US" sz="4800" dirty="0"/>
          </a:p>
        </p:txBody>
      </p:sp>
      <p:sp>
        <p:nvSpPr>
          <p:cNvPr id="3" name="Definition">
            <a:extLst>
              <a:ext uri="{FF2B5EF4-FFF2-40B4-BE49-F238E27FC236}">
                <a16:creationId xmlns:a16="http://schemas.microsoft.com/office/drawing/2014/main" id="{BB9ED552-73A8-102E-D5F5-FC76142129C3}"/>
              </a:ext>
            </a:extLst>
          </p:cNvPr>
          <p:cNvSpPr txBox="1"/>
          <p:nvPr/>
        </p:nvSpPr>
        <p:spPr>
          <a:xfrm>
            <a:off x="822960" y="2479271"/>
            <a:ext cx="10515600" cy="2747356"/>
          </a:xfrm>
          <a:prstGeom prst="rect">
            <a:avLst/>
          </a:prstGeom>
          <a:noFill/>
          <a:ln/>
        </p:spPr>
        <p:txBody>
          <a:bodyPr wrap="square" lIns="0" tIns="0" rIns="0" bIns="0" rtlCol="0" anchor="t"/>
          <a:lstStyle/>
          <a:p>
            <a:pPr>
              <a:spcAft>
                <a:spcPts val="1400"/>
              </a:spcAft>
            </a:pPr>
            <a:r>
              <a:rPr lang="en-US" sz="3600" dirty="0"/>
              <a:t>The challenge of making an AI system's goals and behavior match what its designers and users actually intend, including human values, not just the literal instructions or the objective it was trained on. </a:t>
            </a:r>
          </a:p>
        </p:txBody>
      </p:sp>
      <p:sp>
        <p:nvSpPr>
          <p:cNvPr id="4" name="Callout">
            <a:extLst>
              <a:ext uri="{FF2B5EF4-FFF2-40B4-BE49-F238E27FC236}">
                <a16:creationId xmlns:a16="http://schemas.microsoft.com/office/drawing/2014/main" id="{FAD251EC-0D47-BC58-BC65-F7D46E2C799E}"/>
              </a:ext>
            </a:extLst>
          </p:cNvPr>
          <p:cNvSpPr txBox="1"/>
          <p:nvPr/>
        </p:nvSpPr>
        <p:spPr>
          <a:xfrm>
            <a:off x="822960" y="5394960"/>
            <a:ext cx="10679776" cy="82296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The peanut butter sandwich instruction problem.</a:t>
            </a:r>
            <a:endParaRPr lang="en-US" sz="3600" dirty="0"/>
          </a:p>
        </p:txBody>
      </p:sp>
    </p:spTree>
    <p:extLst>
      <p:ext uri="{BB962C8B-B14F-4D97-AF65-F5344CB8AC3E}">
        <p14:creationId xmlns:p14="http://schemas.microsoft.com/office/powerpoint/2010/main" val="397236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mpt">
            <a:extLst>
              <a:ext uri="{FF2B5EF4-FFF2-40B4-BE49-F238E27FC236}">
                <a16:creationId xmlns:a16="http://schemas.microsoft.com/office/drawing/2014/main" id="{80ED0C42-E14C-DC62-8E8A-D78660DC0B56}"/>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Discussion:  What did you learn from this section?</a:t>
            </a:r>
            <a:endParaRPr lang="en-US" sz="4400" dirty="0"/>
          </a:p>
        </p:txBody>
      </p:sp>
    </p:spTree>
    <p:extLst>
      <p:ext uri="{BB962C8B-B14F-4D97-AF65-F5344CB8AC3E}">
        <p14:creationId xmlns:p14="http://schemas.microsoft.com/office/powerpoint/2010/main" val="6235447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6000" b="1" dirty="0">
                <a:solidFill>
                  <a:srgbClr val="000000"/>
                </a:solidFill>
                <a:latin typeface="Arial" pitchFamily="34" charset="0"/>
                <a:ea typeface="Arial" pitchFamily="34" charset="-122"/>
                <a:cs typeface="Arial" pitchFamily="34" charset="-120"/>
              </a:rPr>
              <a:t>Requirement 2: AI Basics</a:t>
            </a:r>
            <a:endParaRPr lang="en-US" sz="6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Ten examples of how AI is used in everyday life</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Five examples of how AI is used in the workplace</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Five examples of how AI can be used at school or in support of your education</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txBox="1"/>
          <p:nvPr/>
        </p:nvSpPr>
        <p:spPr>
          <a:xfrm>
            <a:off x="822960" y="1463040"/>
            <a:ext cx="10515600" cy="1828800"/>
          </a:xfrm>
          <a:prstGeom prst="rect">
            <a:avLst/>
          </a:prstGeom>
          <a:noFill/>
          <a:ln/>
        </p:spPr>
        <p:txBody>
          <a:bodyPr wrap="square" lIns="0" tIns="0" rIns="0" bIns="0" rtlCol="0" anchor="t"/>
          <a:lstStyle/>
          <a:p>
            <a:pPr marL="0" indent="0" algn="l">
              <a:buNone/>
            </a:pPr>
            <a:r>
              <a:rPr lang="en-US" sz="8000" b="1" dirty="0">
                <a:solidFill>
                  <a:srgbClr val="000000"/>
                </a:solidFill>
                <a:latin typeface="Arial" pitchFamily="34" charset="0"/>
                <a:ea typeface="Arial" pitchFamily="34" charset="-122"/>
                <a:cs typeface="Arial" pitchFamily="34" charset="-120"/>
              </a:rPr>
              <a:t>AI or Not?</a:t>
            </a:r>
            <a:endParaRPr lang="en-US" sz="8000" dirty="0"/>
          </a:p>
        </p:txBody>
      </p:sp>
      <p:sp>
        <p:nvSpPr>
          <p:cNvPr id="3" name="Detail"/>
          <p:cNvSpPr txBox="1"/>
          <p:nvPr/>
        </p:nvSpPr>
        <p:spPr>
          <a:xfrm>
            <a:off x="822960" y="3566160"/>
            <a:ext cx="10515600" cy="1828800"/>
          </a:xfrm>
          <a:prstGeom prst="rect">
            <a:avLst/>
          </a:prstGeom>
          <a:noFill/>
          <a:ln/>
        </p:spPr>
        <p:txBody>
          <a:bodyPr wrap="square" lIns="0" tIns="0" rIns="0" bIns="0" rtlCol="0" anchor="t"/>
          <a:lstStyle/>
          <a:p>
            <a:pPr marL="0" indent="0" algn="l">
              <a:spcAft>
                <a:spcPts val="1200"/>
              </a:spcAft>
              <a:buNone/>
            </a:pPr>
            <a:r>
              <a:rPr lang="en-US" sz="3600" dirty="0">
                <a:solidFill>
                  <a:srgbClr val="000000"/>
                </a:solidFill>
                <a:latin typeface="Arial" pitchFamily="34" charset="0"/>
                <a:ea typeface="Arial" pitchFamily="34" charset="-122"/>
                <a:cs typeface="Arial" pitchFamily="34" charset="-120"/>
              </a:rPr>
              <a:t>Does the scenario use AI?</a:t>
            </a:r>
            <a:endParaRPr lang="en-US" sz="3600" dirty="0"/>
          </a:p>
          <a:p>
            <a:pPr marL="0" indent="0" algn="l">
              <a:spcAft>
                <a:spcPts val="1200"/>
              </a:spcAft>
              <a:buNone/>
            </a:pPr>
            <a:r>
              <a:rPr lang="en-US" sz="3600" dirty="0">
                <a:solidFill>
                  <a:srgbClr val="000000"/>
                </a:solidFill>
                <a:latin typeface="Arial" pitchFamily="34" charset="0"/>
                <a:ea typeface="Arial" pitchFamily="34" charset="-122"/>
                <a:cs typeface="Arial" pitchFamily="34" charset="-120"/>
              </a:rPr>
              <a:t>Ten rounds</a:t>
            </a:r>
            <a:endParaRPr lang="en-US" sz="3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Digital Alarm Clock</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basic digital alarm clock that goes off at set times.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000000"/>
                </a:solidFill>
                <a:latin typeface="Arial" pitchFamily="34" charset="0"/>
                <a:ea typeface="Arial" pitchFamily="34" charset="-122"/>
                <a:cs typeface="Arial" pitchFamily="34" charset="-120"/>
              </a:rPr>
              <a:t>Not</a:t>
            </a:r>
            <a:endParaRPr lang="en-US" sz="9600" dirty="0"/>
          </a:p>
        </p:txBody>
      </p:sp>
      <p:pic>
        <p:nvPicPr>
          <p:cNvPr id="5" name="Picture 4" descr="Boys Scouting Of American Logo PNG Vector">
            <a:extLst>
              <a:ext uri="{FF2B5EF4-FFF2-40B4-BE49-F238E27FC236}">
                <a16:creationId xmlns:a16="http://schemas.microsoft.com/office/drawing/2014/main" id="{627A25D9-B4AC-94EF-9656-4515AC2121E6}"/>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Weather Prediction App</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smartphone app that predicts weather patterns and adjusts forecasts based on actual outcomes.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E26310"/>
                </a:solidFill>
                <a:latin typeface="Arial" pitchFamily="34" charset="0"/>
                <a:ea typeface="Arial" pitchFamily="34" charset="-122"/>
                <a:cs typeface="Arial" pitchFamily="34" charset="-120"/>
              </a:rPr>
              <a:t>AI</a:t>
            </a:r>
            <a:endParaRPr lang="en-US" sz="9600" dirty="0"/>
          </a:p>
        </p:txBody>
      </p:sp>
      <p:pic>
        <p:nvPicPr>
          <p:cNvPr id="5" name="Picture 4" descr="Boys Scouting Of American Logo PNG Vector">
            <a:extLst>
              <a:ext uri="{FF2B5EF4-FFF2-40B4-BE49-F238E27FC236}">
                <a16:creationId xmlns:a16="http://schemas.microsoft.com/office/drawing/2014/main" id="{DB2AFBA7-812C-BF92-47F4-7CF99274AF73}"/>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Music Recommendation System</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streaming service that suggests songs based on listening history.</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E26310"/>
                </a:solidFill>
                <a:latin typeface="Arial" pitchFamily="34" charset="0"/>
                <a:ea typeface="Arial" pitchFamily="34" charset="-122"/>
                <a:cs typeface="Arial" pitchFamily="34" charset="-120"/>
              </a:rPr>
              <a:t>AI</a:t>
            </a:r>
            <a:endParaRPr lang="en-US" sz="9600" dirty="0"/>
          </a:p>
        </p:txBody>
      </p:sp>
      <p:pic>
        <p:nvPicPr>
          <p:cNvPr id="5" name="Picture 4" descr="Boys Scouting Of American Logo PNG Vector">
            <a:extLst>
              <a:ext uri="{FF2B5EF4-FFF2-40B4-BE49-F238E27FC236}">
                <a16:creationId xmlns:a16="http://schemas.microsoft.com/office/drawing/2014/main" id="{FF0FBAD8-18A3-1F29-6D29-17FC88299362}"/>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Traffic Light Timer</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traffic light that changes at fixed intervals.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000000"/>
                </a:solidFill>
                <a:latin typeface="Arial" pitchFamily="34" charset="0"/>
                <a:ea typeface="Arial" pitchFamily="34" charset="-122"/>
                <a:cs typeface="Arial" pitchFamily="34" charset="-120"/>
              </a:rPr>
              <a:t>Not</a:t>
            </a:r>
            <a:endParaRPr lang="en-US" sz="9600" dirty="0"/>
          </a:p>
        </p:txBody>
      </p:sp>
      <p:pic>
        <p:nvPicPr>
          <p:cNvPr id="5" name="Picture 4" descr="Boys Scouting Of American Logo PNG Vector">
            <a:extLst>
              <a:ext uri="{FF2B5EF4-FFF2-40B4-BE49-F238E27FC236}">
                <a16:creationId xmlns:a16="http://schemas.microsoft.com/office/drawing/2014/main" id="{A63275A3-CCED-370B-7144-71C9452B04ED}"/>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Smart Traffic Management</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Traffic lights that adjust timing based on current traffic patterns.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E26310"/>
                </a:solidFill>
                <a:latin typeface="Arial" pitchFamily="34" charset="0"/>
                <a:ea typeface="Arial" pitchFamily="34" charset="-122"/>
                <a:cs typeface="Arial" pitchFamily="34" charset="-120"/>
              </a:rPr>
              <a:t>AI</a:t>
            </a:r>
            <a:endParaRPr lang="en-US" sz="9600" dirty="0"/>
          </a:p>
        </p:txBody>
      </p:sp>
      <p:pic>
        <p:nvPicPr>
          <p:cNvPr id="5" name="Picture 4" descr="Boys Scouting Of American Logo PNG Vector">
            <a:extLst>
              <a:ext uri="{FF2B5EF4-FFF2-40B4-BE49-F238E27FC236}">
                <a16:creationId xmlns:a16="http://schemas.microsoft.com/office/drawing/2014/main" id="{7490414B-3079-B28F-CE05-343B3AD0CF3F}"/>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Automated Sprinkler System</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Lawn sprinklers that turn on at scheduled times.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000000"/>
                </a:solidFill>
                <a:latin typeface="Arial" pitchFamily="34" charset="0"/>
                <a:ea typeface="Arial" pitchFamily="34" charset="-122"/>
                <a:cs typeface="Arial" pitchFamily="34" charset="-120"/>
              </a:rPr>
              <a:t>Not</a:t>
            </a:r>
            <a:endParaRPr lang="en-US" sz="9600" dirty="0"/>
          </a:p>
        </p:txBody>
      </p:sp>
      <p:pic>
        <p:nvPicPr>
          <p:cNvPr id="5" name="Picture 4" descr="Boys Scouting Of American Logo PNG Vector">
            <a:extLst>
              <a:ext uri="{FF2B5EF4-FFF2-40B4-BE49-F238E27FC236}">
                <a16:creationId xmlns:a16="http://schemas.microsoft.com/office/drawing/2014/main" id="{A3EB3BAC-04FF-E1B0-4AD2-3CD6344C5774}"/>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Smart Irrigation System</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Sprinklers that adjust watering based on soil moisture, weather forecasts, and plant needs.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E26310"/>
                </a:solidFill>
                <a:latin typeface="Arial" pitchFamily="34" charset="0"/>
                <a:ea typeface="Arial" pitchFamily="34" charset="-122"/>
                <a:cs typeface="Arial" pitchFamily="34" charset="-120"/>
              </a:rPr>
              <a:t>AI</a:t>
            </a:r>
            <a:endParaRPr lang="en-US" sz="9600" dirty="0"/>
          </a:p>
        </p:txBody>
      </p:sp>
      <p:pic>
        <p:nvPicPr>
          <p:cNvPr id="5" name="Picture 4" descr="Boys Scouting Of American Logo PNG Vector">
            <a:extLst>
              <a:ext uri="{FF2B5EF4-FFF2-40B4-BE49-F238E27FC236}">
                <a16:creationId xmlns:a16="http://schemas.microsoft.com/office/drawing/2014/main" id="{C87B4D68-6739-0AAC-BA20-1C5CEE6ACCA9}"/>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Automatic Hand Dryer</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bathroom hand dryer that activates when hands are present.</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000000"/>
                </a:solidFill>
                <a:latin typeface="Arial" pitchFamily="34" charset="0"/>
                <a:ea typeface="Arial" pitchFamily="34" charset="-122"/>
                <a:cs typeface="Arial" pitchFamily="34" charset="-120"/>
              </a:rPr>
              <a:t>Not</a:t>
            </a:r>
            <a:endParaRPr lang="en-US" sz="9600" dirty="0"/>
          </a:p>
        </p:txBody>
      </p:sp>
      <p:pic>
        <p:nvPicPr>
          <p:cNvPr id="5" name="Picture 4" descr="Boys Scouting Of American Logo PNG Vector">
            <a:extLst>
              <a:ext uri="{FF2B5EF4-FFF2-40B4-BE49-F238E27FC236}">
                <a16:creationId xmlns:a16="http://schemas.microsoft.com/office/drawing/2014/main" id="{345AAB9D-C3B6-7D38-7F63-D44EE7DE10B1}"/>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Smart Energy Monitor</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home system that learns energy usage patterns and suggests optimizations.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E26310"/>
                </a:solidFill>
                <a:latin typeface="Arial" pitchFamily="34" charset="0"/>
                <a:ea typeface="Arial" pitchFamily="34" charset="-122"/>
                <a:cs typeface="Arial" pitchFamily="34" charset="-120"/>
              </a:rPr>
              <a:t>AI</a:t>
            </a:r>
            <a:endParaRPr lang="en-US" sz="9600" dirty="0"/>
          </a:p>
        </p:txBody>
      </p:sp>
      <p:pic>
        <p:nvPicPr>
          <p:cNvPr id="5" name="Picture 4" descr="Boys Scouting Of American Logo PNG Vector">
            <a:extLst>
              <a:ext uri="{FF2B5EF4-FFF2-40B4-BE49-F238E27FC236}">
                <a16:creationId xmlns:a16="http://schemas.microsoft.com/office/drawing/2014/main" id="{52A23095-FB3E-A589-390D-7AEFCB6F8156}"/>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cenario"/>
          <p:cNvSpPr txBox="1"/>
          <p:nvPr/>
        </p:nvSpPr>
        <p:spPr>
          <a:xfrm>
            <a:off x="822960" y="640080"/>
            <a:ext cx="10515600" cy="1097280"/>
          </a:xfrm>
          <a:prstGeom prst="rect">
            <a:avLst/>
          </a:prstGeom>
          <a:noFill/>
          <a:ln/>
        </p:spPr>
        <p:txBody>
          <a:bodyPr wrap="square" lIns="0" tIns="0" rIns="0" bIns="0" rtlCol="0" anchor="t"/>
          <a:lstStyle/>
          <a:p>
            <a:pPr marL="0" indent="0" algn="l">
              <a:buNone/>
            </a:pPr>
            <a:r>
              <a:rPr lang="en-US" sz="5000" b="1" dirty="0">
                <a:solidFill>
                  <a:srgbClr val="000000"/>
                </a:solidFill>
                <a:latin typeface="Arial" pitchFamily="34" charset="0"/>
                <a:ea typeface="Arial" pitchFamily="34" charset="-122"/>
                <a:cs typeface="Arial" pitchFamily="34" charset="-120"/>
              </a:rPr>
              <a:t>Smart Chess Program</a:t>
            </a:r>
            <a:endParaRPr lang="en-US" sz="5000" dirty="0"/>
          </a:p>
        </p:txBody>
      </p:sp>
      <p:sp>
        <p:nvSpPr>
          <p:cNvPr id="3" name="Situation"/>
          <p:cNvSpPr txBox="1"/>
          <p:nvPr/>
        </p:nvSpPr>
        <p:spPr>
          <a:xfrm>
            <a:off x="822960" y="1920240"/>
            <a:ext cx="10515600" cy="2194560"/>
          </a:xfrm>
          <a:prstGeom prst="rect">
            <a:avLst/>
          </a:prstGeom>
          <a:noFill/>
          <a:ln/>
        </p:spPr>
        <p:txBody>
          <a:bodyPr wrap="square" lIns="0" tIns="0" rIns="0" bIns="0" rtlCol="0" anchor="t"/>
          <a:lstStyle/>
          <a:p>
            <a:pPr marL="0" indent="0" algn="l">
              <a:buNone/>
            </a:pPr>
            <a:r>
              <a:rPr lang="en-US" sz="3600" dirty="0">
                <a:solidFill>
                  <a:srgbClr val="000000"/>
                </a:solidFill>
                <a:latin typeface="Arial" pitchFamily="34" charset="0"/>
                <a:ea typeface="Arial" pitchFamily="34" charset="-122"/>
                <a:cs typeface="Arial" pitchFamily="34" charset="-120"/>
              </a:rPr>
              <a:t>A chess program that improves its strategy by analyzing past games.</a:t>
            </a:r>
            <a:endParaRPr lang="en-US" sz="3600" dirty="0"/>
          </a:p>
        </p:txBody>
      </p:sp>
      <p:sp>
        <p:nvSpPr>
          <p:cNvPr id="4" name="Answer"/>
          <p:cNvSpPr txBox="1"/>
          <p:nvPr/>
        </p:nvSpPr>
        <p:spPr>
          <a:xfrm>
            <a:off x="822960" y="4297680"/>
            <a:ext cx="10515600" cy="2011680"/>
          </a:xfrm>
          <a:prstGeom prst="rect">
            <a:avLst/>
          </a:prstGeom>
          <a:noFill/>
          <a:ln/>
        </p:spPr>
        <p:txBody>
          <a:bodyPr wrap="square" lIns="0" tIns="0" rIns="0" bIns="0" rtlCol="0" anchor="ctr"/>
          <a:lstStyle/>
          <a:p>
            <a:pPr marL="0" indent="0" algn="l">
              <a:buNone/>
            </a:pPr>
            <a:r>
              <a:rPr lang="en-US" sz="9600" b="1" dirty="0">
                <a:solidFill>
                  <a:srgbClr val="E26310"/>
                </a:solidFill>
                <a:latin typeface="Arial" pitchFamily="34" charset="0"/>
                <a:ea typeface="Arial" pitchFamily="34" charset="-122"/>
                <a:cs typeface="Arial" pitchFamily="34" charset="-120"/>
              </a:rPr>
              <a:t>AI</a:t>
            </a:r>
            <a:endParaRPr lang="en-US" sz="9600" dirty="0"/>
          </a:p>
        </p:txBody>
      </p:sp>
      <p:pic>
        <p:nvPicPr>
          <p:cNvPr id="5" name="Picture 4" descr="Boys Scouting Of American Logo PNG Vector">
            <a:extLst>
              <a:ext uri="{FF2B5EF4-FFF2-40B4-BE49-F238E27FC236}">
                <a16:creationId xmlns:a16="http://schemas.microsoft.com/office/drawing/2014/main" id="{6241E012-0491-9BFA-B47B-9EBCFF1AA88B}"/>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mpt">
            <a:extLst>
              <a:ext uri="{FF2B5EF4-FFF2-40B4-BE49-F238E27FC236}">
                <a16:creationId xmlns:a16="http://schemas.microsoft.com/office/drawing/2014/main" id="{57F140D1-D975-1DBE-66AA-0B8641C811FF}"/>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Discussion: Chess program.  It’s not necessarily a clean yes or no.</a:t>
            </a:r>
            <a:endParaRPr lang="en-US" sz="4400" dirty="0"/>
          </a:p>
        </p:txBody>
      </p:sp>
    </p:spTree>
    <p:extLst>
      <p:ext uri="{BB962C8B-B14F-4D97-AF65-F5344CB8AC3E}">
        <p14:creationId xmlns:p14="http://schemas.microsoft.com/office/powerpoint/2010/main" val="564971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Timeline: five key milestones in the development of AI</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mpt">
            <a:extLst>
              <a:ext uri="{FF2B5EF4-FFF2-40B4-BE49-F238E27FC236}">
                <a16:creationId xmlns:a16="http://schemas.microsoft.com/office/drawing/2014/main" id="{80ED0C42-E14C-DC62-8E8A-D78660DC0B56}"/>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Discussion:  What did you learn from this section?</a:t>
            </a:r>
            <a:endParaRPr lang="en-US" sz="4400" dirty="0"/>
          </a:p>
        </p:txBody>
      </p:sp>
    </p:spTree>
    <p:extLst>
      <p:ext uri="{BB962C8B-B14F-4D97-AF65-F5344CB8AC3E}">
        <p14:creationId xmlns:p14="http://schemas.microsoft.com/office/powerpoint/2010/main" val="972374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000" b="1" dirty="0">
                <a:solidFill>
                  <a:srgbClr val="000000"/>
                </a:solidFill>
                <a:latin typeface="Arial" pitchFamily="34" charset="0"/>
                <a:ea typeface="Arial" pitchFamily="34" charset="-122"/>
                <a:cs typeface="Arial" pitchFamily="34" charset="-120"/>
              </a:rPr>
              <a:t>Requirement 3: Automation Basics</a:t>
            </a:r>
            <a:endParaRPr lang="en-US" sz="5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Ten examples of how automation is used in everyday life</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Five examples of how automation is used in the workplace</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Five examples of how automation can be used at school or in support of your education</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How does automation perform repetitive tasks without human intervention?</a:t>
            </a:r>
            <a:endParaRPr lang="en-US" sz="4800" dirty="0"/>
          </a:p>
        </p:txBody>
      </p:sp>
      <p:sp>
        <p:nvSpPr>
          <p:cNvPr id="3" name="Detail"/>
          <p:cNvSpPr txBox="1"/>
          <p:nvPr/>
        </p:nvSpPr>
        <p:spPr>
          <a:xfrm>
            <a:off x="822960" y="3383280"/>
            <a:ext cx="10515600" cy="2743200"/>
          </a:xfrm>
          <a:prstGeom prst="rect">
            <a:avLst/>
          </a:prstGeom>
          <a:noFill/>
          <a:ln/>
        </p:spPr>
        <p:txBody>
          <a:bodyPr wrap="square" lIns="0" tIns="0" rIns="0" bIns="0" rtlCol="0" anchor="t"/>
          <a:lstStyle/>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How does it reduce human error and optimize resources?</a:t>
            </a:r>
            <a:endParaRPr lang="en-US" sz="3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What can go wrong with automation?  Potential errors and issues</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Timeline: five significant milestones in the development of automation</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CD6A2-D681-2177-009E-9230576D7673}"/>
            </a:ext>
          </a:extLst>
        </p:cNvPr>
        <p:cNvGrpSpPr/>
        <p:nvPr/>
      </p:nvGrpSpPr>
      <p:grpSpPr>
        <a:xfrm>
          <a:off x="0" y="0"/>
          <a:ext cx="0" cy="0"/>
          <a:chOff x="0" y="0"/>
          <a:chExt cx="0" cy="0"/>
        </a:xfrm>
      </p:grpSpPr>
      <p:sp>
        <p:nvSpPr>
          <p:cNvPr id="4" name="Prompt">
            <a:extLst>
              <a:ext uri="{FF2B5EF4-FFF2-40B4-BE49-F238E27FC236}">
                <a16:creationId xmlns:a16="http://schemas.microsoft.com/office/drawing/2014/main" id="{364290AF-DC52-4E23-A6D5-C112F1254B6F}"/>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Discussion:  What did you learn from this section?</a:t>
            </a:r>
            <a:endParaRPr lang="en-US" sz="4400" dirty="0"/>
          </a:p>
        </p:txBody>
      </p:sp>
    </p:spTree>
    <p:extLst>
      <p:ext uri="{BB962C8B-B14F-4D97-AF65-F5344CB8AC3E}">
        <p14:creationId xmlns:p14="http://schemas.microsoft.com/office/powerpoint/2010/main" val="662054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6000" b="1" dirty="0">
                <a:solidFill>
                  <a:srgbClr val="000000"/>
                </a:solidFill>
                <a:latin typeface="Arial" pitchFamily="34" charset="0"/>
                <a:ea typeface="Arial" pitchFamily="34" charset="-122"/>
                <a:cs typeface="Arial" pitchFamily="34" charset="-120"/>
              </a:rPr>
              <a:t>Requirement 4: Ethics in AI</a:t>
            </a:r>
            <a:endParaRPr lang="en-US" sz="6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What ethical concerns come with AI?</a:t>
            </a:r>
            <a:endParaRPr lang="en-US" sz="4800" dirty="0"/>
          </a:p>
        </p:txBody>
      </p:sp>
      <p:sp>
        <p:nvSpPr>
          <p:cNvPr id="3" name="Detail"/>
          <p:cNvSpPr txBox="1"/>
          <p:nvPr/>
        </p:nvSpPr>
        <p:spPr>
          <a:xfrm>
            <a:off x="822960" y="3383280"/>
            <a:ext cx="10515600" cy="2743200"/>
          </a:xfrm>
          <a:prstGeom prst="rect">
            <a:avLst/>
          </a:prstGeom>
          <a:noFill/>
          <a:ln/>
        </p:spPr>
        <p:txBody>
          <a:bodyPr wrap="square" lIns="0" tIns="0" rIns="0" bIns="0" rtlCol="0" anchor="t"/>
          <a:lstStyle/>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Bias</a:t>
            </a:r>
            <a:endParaRPr lang="en-US" sz="3400" dirty="0"/>
          </a:p>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Privacy</a:t>
            </a:r>
            <a:endParaRPr lang="en-US" sz="3400" dirty="0"/>
          </a:p>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AI decision-making</a:t>
            </a:r>
            <a:endParaRPr lang="en-US" sz="3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cNvSpPr txBox="1"/>
          <p:nvPr/>
        </p:nvSpPr>
        <p:spPr>
          <a:xfrm>
            <a:off x="822960" y="457200"/>
            <a:ext cx="10515600" cy="457200"/>
          </a:xfrm>
          <a:prstGeom prst="rect">
            <a:avLst/>
          </a:prstGeom>
          <a:noFill/>
          <a:ln/>
        </p:spPr>
        <p:txBody>
          <a:bodyPr wrap="square" lIns="0" tIns="0" rIns="0" bIns="0" rtlCol="0" anchor="t"/>
          <a:lstStyle/>
          <a:p>
            <a:pPr marL="0" indent="0" algn="l">
              <a:buNone/>
            </a:pPr>
            <a:r>
              <a:rPr lang="en-US" sz="2400" b="1" dirty="0">
                <a:solidFill>
                  <a:srgbClr val="E26310"/>
                </a:solidFill>
                <a:latin typeface="Arial" pitchFamily="34" charset="0"/>
                <a:ea typeface="Arial" pitchFamily="34" charset="-122"/>
                <a:cs typeface="Arial" pitchFamily="34" charset="-120"/>
              </a:rPr>
              <a:t>What Would You Do?</a:t>
            </a:r>
            <a:endParaRPr lang="en-US" sz="2400" dirty="0"/>
          </a:p>
        </p:txBody>
      </p:sp>
      <p:sp>
        <p:nvSpPr>
          <p:cNvPr id="3" name="Scenario"/>
          <p:cNvSpPr txBox="1"/>
          <p:nvPr/>
        </p:nvSpPr>
        <p:spPr>
          <a:xfrm>
            <a:off x="822960" y="1005840"/>
            <a:ext cx="10515600" cy="1005840"/>
          </a:xfrm>
          <a:prstGeom prst="rect">
            <a:avLst/>
          </a:prstGeom>
          <a:noFill/>
          <a:ln/>
        </p:spPr>
        <p:txBody>
          <a:bodyPr wrap="square" lIns="0" tIns="0" rIns="0" bIns="0" rtlCol="0" anchor="t"/>
          <a:lstStyle/>
          <a:p>
            <a:pPr marL="0" indent="0" algn="l">
              <a:buNone/>
            </a:pPr>
            <a:r>
              <a:rPr lang="en-US" sz="4600" b="1" dirty="0">
                <a:solidFill>
                  <a:srgbClr val="000000"/>
                </a:solidFill>
                <a:latin typeface="Arial" pitchFamily="34" charset="0"/>
                <a:ea typeface="Arial" pitchFamily="34" charset="-122"/>
                <a:cs typeface="Arial" pitchFamily="34" charset="-120"/>
              </a:rPr>
              <a:t>AI in Law Enforcement</a:t>
            </a:r>
            <a:endParaRPr lang="en-US" sz="4600" dirty="0"/>
          </a:p>
        </p:txBody>
      </p:sp>
      <p:sp>
        <p:nvSpPr>
          <p:cNvPr id="4" name="Situation"/>
          <p:cNvSpPr txBox="1"/>
          <p:nvPr/>
        </p:nvSpPr>
        <p:spPr>
          <a:xfrm>
            <a:off x="822960" y="2194560"/>
            <a:ext cx="10515600" cy="2286000"/>
          </a:xfrm>
          <a:prstGeom prst="rect">
            <a:avLst/>
          </a:prstGeom>
          <a:noFill/>
          <a:ln/>
        </p:spPr>
        <p:txBody>
          <a:bodyPr wrap="square" lIns="0" tIns="0" rIns="0" bIns="0" rtlCol="0" anchor="t"/>
          <a:lstStyle/>
          <a:p>
            <a:pPr marL="0" indent="0" algn="l">
              <a:buNone/>
            </a:pPr>
            <a:r>
              <a:rPr lang="en-US" sz="3200" dirty="0">
                <a:solidFill>
                  <a:srgbClr val="000000"/>
                </a:solidFill>
                <a:latin typeface="Arial" pitchFamily="34" charset="0"/>
                <a:ea typeface="Arial" pitchFamily="34" charset="-122"/>
                <a:cs typeface="Arial" pitchFamily="34" charset="-120"/>
              </a:rPr>
              <a:t>Police department is using AI to predict high-crime areas by analyzing historical crime data to allocate patrol resources.</a:t>
            </a:r>
            <a:endParaRPr lang="en-US" sz="3200" dirty="0"/>
          </a:p>
        </p:txBody>
      </p:sp>
      <p:sp>
        <p:nvSpPr>
          <p:cNvPr id="5" name="Question"/>
          <p:cNvSpPr txBox="1"/>
          <p:nvPr/>
        </p:nvSpPr>
        <p:spPr>
          <a:xfrm>
            <a:off x="822960" y="4663440"/>
            <a:ext cx="10515600" cy="164592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How can we ensure fair treatment of all communities?</a:t>
            </a:r>
            <a:endParaRPr lang="en-US" sz="3600" dirty="0"/>
          </a:p>
        </p:txBody>
      </p:sp>
      <p:pic>
        <p:nvPicPr>
          <p:cNvPr id="6" name="Picture 5" descr="Boys Scouting Of American Logo PNG Vector">
            <a:extLst>
              <a:ext uri="{FF2B5EF4-FFF2-40B4-BE49-F238E27FC236}">
                <a16:creationId xmlns:a16="http://schemas.microsoft.com/office/drawing/2014/main" id="{FEA47BAF-786C-8B2D-B6A6-834AB6945937}"/>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cNvSpPr txBox="1"/>
          <p:nvPr/>
        </p:nvSpPr>
        <p:spPr>
          <a:xfrm>
            <a:off x="822960" y="457200"/>
            <a:ext cx="10515600" cy="457200"/>
          </a:xfrm>
          <a:prstGeom prst="rect">
            <a:avLst/>
          </a:prstGeom>
          <a:noFill/>
          <a:ln/>
        </p:spPr>
        <p:txBody>
          <a:bodyPr wrap="square" lIns="0" tIns="0" rIns="0" bIns="0" rtlCol="0" anchor="t"/>
          <a:lstStyle/>
          <a:p>
            <a:pPr marL="0" indent="0" algn="l">
              <a:buNone/>
            </a:pPr>
            <a:r>
              <a:rPr lang="en-US" sz="2400" b="1" dirty="0">
                <a:solidFill>
                  <a:srgbClr val="E26310"/>
                </a:solidFill>
                <a:latin typeface="Arial" pitchFamily="34" charset="0"/>
                <a:ea typeface="Arial" pitchFamily="34" charset="-122"/>
                <a:cs typeface="Arial" pitchFamily="34" charset="-120"/>
              </a:rPr>
              <a:t>What Would You Do?</a:t>
            </a:r>
            <a:endParaRPr lang="en-US" sz="2400" dirty="0"/>
          </a:p>
        </p:txBody>
      </p:sp>
      <p:sp>
        <p:nvSpPr>
          <p:cNvPr id="3" name="Scenario"/>
          <p:cNvSpPr txBox="1"/>
          <p:nvPr/>
        </p:nvSpPr>
        <p:spPr>
          <a:xfrm>
            <a:off x="822960" y="1005840"/>
            <a:ext cx="10515600" cy="1005840"/>
          </a:xfrm>
          <a:prstGeom prst="rect">
            <a:avLst/>
          </a:prstGeom>
          <a:noFill/>
          <a:ln/>
        </p:spPr>
        <p:txBody>
          <a:bodyPr wrap="square" lIns="0" tIns="0" rIns="0" bIns="0" rtlCol="0" anchor="t"/>
          <a:lstStyle/>
          <a:p>
            <a:pPr marL="0" indent="0" algn="l">
              <a:buNone/>
            </a:pPr>
            <a:r>
              <a:rPr lang="en-US" sz="4600" b="1" dirty="0">
                <a:solidFill>
                  <a:srgbClr val="000000"/>
                </a:solidFill>
                <a:latin typeface="Arial" pitchFamily="34" charset="0"/>
                <a:ea typeface="Arial" pitchFamily="34" charset="-122"/>
                <a:cs typeface="Arial" pitchFamily="34" charset="-120"/>
              </a:rPr>
              <a:t>Educational Assessment AI</a:t>
            </a:r>
            <a:endParaRPr lang="en-US" sz="4600" dirty="0"/>
          </a:p>
        </p:txBody>
      </p:sp>
      <p:sp>
        <p:nvSpPr>
          <p:cNvPr id="4" name="Situation"/>
          <p:cNvSpPr txBox="1"/>
          <p:nvPr/>
        </p:nvSpPr>
        <p:spPr>
          <a:xfrm>
            <a:off x="822960" y="2194560"/>
            <a:ext cx="10515600" cy="2286000"/>
          </a:xfrm>
          <a:prstGeom prst="rect">
            <a:avLst/>
          </a:prstGeom>
          <a:noFill/>
          <a:ln/>
        </p:spPr>
        <p:txBody>
          <a:bodyPr wrap="square" lIns="0" tIns="0" rIns="0" bIns="0" rtlCol="0" anchor="t"/>
          <a:lstStyle/>
          <a:p>
            <a:pPr marL="0" indent="0" algn="l">
              <a:buNone/>
            </a:pPr>
            <a:r>
              <a:rPr lang="en-US" sz="3200" dirty="0">
                <a:solidFill>
                  <a:srgbClr val="000000"/>
                </a:solidFill>
                <a:latin typeface="Arial" pitchFamily="34" charset="0"/>
                <a:ea typeface="Arial" pitchFamily="34" charset="-122"/>
                <a:cs typeface="Arial" pitchFamily="34" charset="-120"/>
              </a:rPr>
              <a:t>School system implementing AI to grade essays and assignments by using AI to evaluate writing quality, content, and creativity.</a:t>
            </a:r>
            <a:endParaRPr lang="en-US" sz="3200" dirty="0"/>
          </a:p>
        </p:txBody>
      </p:sp>
      <p:sp>
        <p:nvSpPr>
          <p:cNvPr id="5" name="Question"/>
          <p:cNvSpPr txBox="1"/>
          <p:nvPr/>
        </p:nvSpPr>
        <p:spPr>
          <a:xfrm>
            <a:off x="822960" y="4663440"/>
            <a:ext cx="10515600" cy="164592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How can creativity be fairly assessed?</a:t>
            </a:r>
            <a:endParaRPr lang="en-US" sz="3600" dirty="0"/>
          </a:p>
        </p:txBody>
      </p:sp>
      <p:pic>
        <p:nvPicPr>
          <p:cNvPr id="6" name="Picture 5" descr="Boys Scouting Of American Logo PNG Vector">
            <a:extLst>
              <a:ext uri="{FF2B5EF4-FFF2-40B4-BE49-F238E27FC236}">
                <a16:creationId xmlns:a16="http://schemas.microsoft.com/office/drawing/2014/main" id="{AAA3C395-4E21-8D2B-D9F2-BA261373384F}"/>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cNvSpPr txBox="1"/>
          <p:nvPr/>
        </p:nvSpPr>
        <p:spPr>
          <a:xfrm>
            <a:off x="822960" y="457200"/>
            <a:ext cx="10515600" cy="457200"/>
          </a:xfrm>
          <a:prstGeom prst="rect">
            <a:avLst/>
          </a:prstGeom>
          <a:noFill/>
          <a:ln/>
        </p:spPr>
        <p:txBody>
          <a:bodyPr wrap="square" lIns="0" tIns="0" rIns="0" bIns="0" rtlCol="0" anchor="t"/>
          <a:lstStyle/>
          <a:p>
            <a:pPr marL="0" indent="0" algn="l">
              <a:buNone/>
            </a:pPr>
            <a:r>
              <a:rPr lang="en-US" sz="2400" b="1" dirty="0">
                <a:solidFill>
                  <a:srgbClr val="E26310"/>
                </a:solidFill>
                <a:latin typeface="Arial" pitchFamily="34" charset="0"/>
                <a:ea typeface="Arial" pitchFamily="34" charset="-122"/>
                <a:cs typeface="Arial" pitchFamily="34" charset="-120"/>
              </a:rPr>
              <a:t>What Would You Do?</a:t>
            </a:r>
            <a:endParaRPr lang="en-US" sz="2400" dirty="0"/>
          </a:p>
        </p:txBody>
      </p:sp>
      <p:sp>
        <p:nvSpPr>
          <p:cNvPr id="3" name="Scenario"/>
          <p:cNvSpPr txBox="1"/>
          <p:nvPr/>
        </p:nvSpPr>
        <p:spPr>
          <a:xfrm>
            <a:off x="822960" y="1005840"/>
            <a:ext cx="10515600" cy="1005840"/>
          </a:xfrm>
          <a:prstGeom prst="rect">
            <a:avLst/>
          </a:prstGeom>
          <a:noFill/>
          <a:ln/>
        </p:spPr>
        <p:txBody>
          <a:bodyPr wrap="square" lIns="0" tIns="0" rIns="0" bIns="0" rtlCol="0" anchor="t"/>
          <a:lstStyle/>
          <a:p>
            <a:pPr marL="0" indent="0" algn="l">
              <a:buNone/>
            </a:pPr>
            <a:r>
              <a:rPr lang="en-US" sz="4600" b="1" dirty="0">
                <a:solidFill>
                  <a:srgbClr val="000000"/>
                </a:solidFill>
                <a:latin typeface="Arial" pitchFamily="34" charset="0"/>
                <a:ea typeface="Arial" pitchFamily="34" charset="-122"/>
                <a:cs typeface="Arial" pitchFamily="34" charset="-120"/>
              </a:rPr>
              <a:t>Social Media Content Moderation</a:t>
            </a:r>
            <a:endParaRPr lang="en-US" sz="4600" dirty="0"/>
          </a:p>
        </p:txBody>
      </p:sp>
      <p:sp>
        <p:nvSpPr>
          <p:cNvPr id="4" name="Situation"/>
          <p:cNvSpPr txBox="1"/>
          <p:nvPr/>
        </p:nvSpPr>
        <p:spPr>
          <a:xfrm>
            <a:off x="822960" y="2194560"/>
            <a:ext cx="10515600" cy="2286000"/>
          </a:xfrm>
          <a:prstGeom prst="rect">
            <a:avLst/>
          </a:prstGeom>
          <a:noFill/>
          <a:ln/>
        </p:spPr>
        <p:txBody>
          <a:bodyPr wrap="square" lIns="0" tIns="0" rIns="0" bIns="0" rtlCol="0" anchor="t"/>
          <a:lstStyle/>
          <a:p>
            <a:pPr marL="0" indent="0" algn="l">
              <a:buNone/>
            </a:pPr>
            <a:r>
              <a:rPr lang="en-US" sz="3200" dirty="0">
                <a:solidFill>
                  <a:srgbClr val="000000"/>
                </a:solidFill>
                <a:latin typeface="Arial" pitchFamily="34" charset="0"/>
                <a:ea typeface="Arial" pitchFamily="34" charset="-122"/>
                <a:cs typeface="Arial" pitchFamily="34" charset="-120"/>
              </a:rPr>
              <a:t>AI system moderates online content for youth platforms by filtering inappropriate content and monitoring interactions.</a:t>
            </a:r>
            <a:endParaRPr lang="en-US" sz="3200" dirty="0"/>
          </a:p>
        </p:txBody>
      </p:sp>
      <p:sp>
        <p:nvSpPr>
          <p:cNvPr id="5" name="Question"/>
          <p:cNvSpPr txBox="1"/>
          <p:nvPr/>
        </p:nvSpPr>
        <p:spPr>
          <a:xfrm>
            <a:off x="822960" y="4663440"/>
            <a:ext cx="10515600" cy="164592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How strict should filtering be?</a:t>
            </a:r>
            <a:endParaRPr lang="en-US" sz="3600" dirty="0"/>
          </a:p>
        </p:txBody>
      </p:sp>
      <p:pic>
        <p:nvPicPr>
          <p:cNvPr id="6" name="Picture 5" descr="Boys Scouting Of American Logo PNG Vector">
            <a:extLst>
              <a:ext uri="{FF2B5EF4-FFF2-40B4-BE49-F238E27FC236}">
                <a16:creationId xmlns:a16="http://schemas.microsoft.com/office/drawing/2014/main" id="{1C8AFA0E-B709-B805-E709-8FD6774CDB31}"/>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cNvSpPr txBox="1"/>
          <p:nvPr/>
        </p:nvSpPr>
        <p:spPr>
          <a:xfrm>
            <a:off x="822960" y="457200"/>
            <a:ext cx="10515600" cy="457200"/>
          </a:xfrm>
          <a:prstGeom prst="rect">
            <a:avLst/>
          </a:prstGeom>
          <a:noFill/>
          <a:ln/>
        </p:spPr>
        <p:txBody>
          <a:bodyPr wrap="square" lIns="0" tIns="0" rIns="0" bIns="0" rtlCol="0" anchor="t"/>
          <a:lstStyle/>
          <a:p>
            <a:pPr marL="0" indent="0" algn="l">
              <a:buNone/>
            </a:pPr>
            <a:r>
              <a:rPr lang="en-US" sz="2400" b="1" dirty="0">
                <a:solidFill>
                  <a:srgbClr val="E26310"/>
                </a:solidFill>
                <a:latin typeface="Arial" pitchFamily="34" charset="0"/>
                <a:ea typeface="Arial" pitchFamily="34" charset="-122"/>
                <a:cs typeface="Arial" pitchFamily="34" charset="-120"/>
              </a:rPr>
              <a:t>What Would You Do?</a:t>
            </a:r>
            <a:endParaRPr lang="en-US" sz="2400" dirty="0"/>
          </a:p>
        </p:txBody>
      </p:sp>
      <p:sp>
        <p:nvSpPr>
          <p:cNvPr id="3" name="Scenario"/>
          <p:cNvSpPr txBox="1"/>
          <p:nvPr/>
        </p:nvSpPr>
        <p:spPr>
          <a:xfrm>
            <a:off x="822960" y="1005840"/>
            <a:ext cx="10515600" cy="1005840"/>
          </a:xfrm>
          <a:prstGeom prst="rect">
            <a:avLst/>
          </a:prstGeom>
          <a:noFill/>
          <a:ln/>
        </p:spPr>
        <p:txBody>
          <a:bodyPr wrap="square" lIns="0" tIns="0" rIns="0" bIns="0" rtlCol="0" anchor="t"/>
          <a:lstStyle/>
          <a:p>
            <a:pPr marL="0" indent="0" algn="l">
              <a:buNone/>
            </a:pPr>
            <a:r>
              <a:rPr lang="en-US" sz="4600" b="1" dirty="0">
                <a:solidFill>
                  <a:srgbClr val="000000"/>
                </a:solidFill>
                <a:latin typeface="Arial" pitchFamily="34" charset="0"/>
                <a:ea typeface="Arial" pitchFamily="34" charset="-122"/>
                <a:cs typeface="Arial" pitchFamily="34" charset="-120"/>
              </a:rPr>
              <a:t>Employment Screening</a:t>
            </a:r>
            <a:endParaRPr lang="en-US" sz="4600" dirty="0"/>
          </a:p>
        </p:txBody>
      </p:sp>
      <p:sp>
        <p:nvSpPr>
          <p:cNvPr id="4" name="Situation"/>
          <p:cNvSpPr txBox="1"/>
          <p:nvPr/>
        </p:nvSpPr>
        <p:spPr>
          <a:xfrm>
            <a:off x="822960" y="2194560"/>
            <a:ext cx="10515600" cy="2286000"/>
          </a:xfrm>
          <a:prstGeom prst="rect">
            <a:avLst/>
          </a:prstGeom>
          <a:noFill/>
          <a:ln/>
        </p:spPr>
        <p:txBody>
          <a:bodyPr wrap="square" lIns="0" tIns="0" rIns="0" bIns="0" rtlCol="0" anchor="t"/>
          <a:lstStyle/>
          <a:p>
            <a:pPr marL="0" indent="0" algn="l">
              <a:buNone/>
            </a:pPr>
            <a:r>
              <a:rPr lang="en-US" sz="3200" dirty="0">
                <a:solidFill>
                  <a:srgbClr val="000000"/>
                </a:solidFill>
                <a:latin typeface="Arial" pitchFamily="34" charset="0"/>
                <a:ea typeface="Arial" pitchFamily="34" charset="-122"/>
                <a:cs typeface="Arial" pitchFamily="34" charset="-120"/>
              </a:rPr>
              <a:t>AI system screening job applications and resumes.</a:t>
            </a:r>
            <a:endParaRPr lang="en-US" sz="3200" dirty="0"/>
          </a:p>
        </p:txBody>
      </p:sp>
      <p:sp>
        <p:nvSpPr>
          <p:cNvPr id="5" name="Question"/>
          <p:cNvSpPr txBox="1"/>
          <p:nvPr/>
        </p:nvSpPr>
        <p:spPr>
          <a:xfrm>
            <a:off x="822960" y="4663440"/>
            <a:ext cx="10515600" cy="164592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How can fairness be ensured?</a:t>
            </a:r>
            <a:endParaRPr lang="en-US" sz="3600" dirty="0"/>
          </a:p>
        </p:txBody>
      </p:sp>
      <p:pic>
        <p:nvPicPr>
          <p:cNvPr id="6" name="Picture 5" descr="Boys Scouting Of American Logo PNG Vector">
            <a:extLst>
              <a:ext uri="{FF2B5EF4-FFF2-40B4-BE49-F238E27FC236}">
                <a16:creationId xmlns:a16="http://schemas.microsoft.com/office/drawing/2014/main" id="{B8EA7CA5-A43F-290E-9332-F79DF6A748F5}"/>
              </a:ext>
            </a:extLst>
          </p:cNvPr>
          <p:cNvPicPr>
            <a:picLocks noChangeAspect="1"/>
          </p:cNvPicPr>
          <p:nvPr/>
        </p:nvPicPr>
        <p:blipFill>
          <a:blip r:embed="rId3"/>
          <a:stretch>
            <a:fillRect/>
          </a:stretch>
        </p:blipFill>
        <p:spPr>
          <a:xfrm>
            <a:off x="11273423" y="40477"/>
            <a:ext cx="874039" cy="1016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bel"/>
          <p:cNvSpPr txBox="1"/>
          <p:nvPr/>
        </p:nvSpPr>
        <p:spPr>
          <a:xfrm>
            <a:off x="822960" y="457200"/>
            <a:ext cx="10515600" cy="457200"/>
          </a:xfrm>
          <a:prstGeom prst="rect">
            <a:avLst/>
          </a:prstGeom>
          <a:noFill/>
          <a:ln/>
        </p:spPr>
        <p:txBody>
          <a:bodyPr wrap="square" lIns="0" tIns="0" rIns="0" bIns="0" rtlCol="0" anchor="t"/>
          <a:lstStyle/>
          <a:p>
            <a:pPr marL="0" indent="0" algn="l">
              <a:buNone/>
            </a:pPr>
            <a:r>
              <a:rPr lang="en-US" sz="2400" b="1" dirty="0">
                <a:solidFill>
                  <a:srgbClr val="E26310"/>
                </a:solidFill>
                <a:latin typeface="Arial" pitchFamily="34" charset="0"/>
                <a:ea typeface="Arial" pitchFamily="34" charset="-122"/>
                <a:cs typeface="Arial" pitchFamily="34" charset="-120"/>
              </a:rPr>
              <a:t>What Would You Do?</a:t>
            </a:r>
            <a:endParaRPr lang="en-US" sz="2400" dirty="0"/>
          </a:p>
        </p:txBody>
      </p:sp>
      <p:sp>
        <p:nvSpPr>
          <p:cNvPr id="3" name="Scenario"/>
          <p:cNvSpPr txBox="1"/>
          <p:nvPr/>
        </p:nvSpPr>
        <p:spPr>
          <a:xfrm>
            <a:off x="822960" y="1005840"/>
            <a:ext cx="10515600" cy="1005840"/>
          </a:xfrm>
          <a:prstGeom prst="rect">
            <a:avLst/>
          </a:prstGeom>
          <a:noFill/>
          <a:ln/>
        </p:spPr>
        <p:txBody>
          <a:bodyPr wrap="square" lIns="0" tIns="0" rIns="0" bIns="0" rtlCol="0" anchor="t"/>
          <a:lstStyle/>
          <a:p>
            <a:pPr marL="0" indent="0" algn="l">
              <a:buNone/>
            </a:pPr>
            <a:r>
              <a:rPr lang="en-US" sz="4600" b="1" dirty="0">
                <a:solidFill>
                  <a:srgbClr val="000000"/>
                </a:solidFill>
                <a:latin typeface="Arial" pitchFamily="34" charset="0"/>
                <a:ea typeface="Arial" pitchFamily="34" charset="-122"/>
                <a:cs typeface="Arial" pitchFamily="34" charset="-120"/>
              </a:rPr>
              <a:t>Student Essay Assignment</a:t>
            </a:r>
            <a:endParaRPr lang="en-US" sz="4600" dirty="0"/>
          </a:p>
        </p:txBody>
      </p:sp>
      <p:sp>
        <p:nvSpPr>
          <p:cNvPr id="4" name="Situation"/>
          <p:cNvSpPr txBox="1"/>
          <p:nvPr/>
        </p:nvSpPr>
        <p:spPr>
          <a:xfrm>
            <a:off x="822960" y="2194560"/>
            <a:ext cx="10515600" cy="2286000"/>
          </a:xfrm>
          <a:prstGeom prst="rect">
            <a:avLst/>
          </a:prstGeom>
          <a:noFill/>
          <a:ln/>
        </p:spPr>
        <p:txBody>
          <a:bodyPr wrap="square" lIns="0" tIns="0" rIns="0" bIns="0" rtlCol="0" anchor="t"/>
          <a:lstStyle/>
          <a:p>
            <a:pPr marL="0" indent="0" algn="l">
              <a:buNone/>
            </a:pPr>
            <a:r>
              <a:rPr lang="en-US" sz="3200" dirty="0">
                <a:solidFill>
                  <a:srgbClr val="000000"/>
                </a:solidFill>
                <a:latin typeface="Arial" pitchFamily="34" charset="0"/>
                <a:ea typeface="Arial" pitchFamily="34" charset="-122"/>
                <a:cs typeface="Arial" pitchFamily="34" charset="-120"/>
              </a:rPr>
              <a:t>A student is assigned: “Write a 15-page paper on Victor Hugo’s novel Les Misérables.”  The student is thinking about using AI to help.</a:t>
            </a:r>
            <a:endParaRPr lang="en-US" sz="3200" dirty="0"/>
          </a:p>
        </p:txBody>
      </p:sp>
      <p:sp>
        <p:nvSpPr>
          <p:cNvPr id="5" name="Question"/>
          <p:cNvSpPr txBox="1"/>
          <p:nvPr/>
        </p:nvSpPr>
        <p:spPr>
          <a:xfrm>
            <a:off x="822960" y="4663440"/>
            <a:ext cx="10515600" cy="164592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Where is the line between getting help and having AI do the work?  What is the path for the student to learn the most from this assignment?</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4(c) Develop your own ethical guidelines for the use of AI</a:t>
            </a:r>
            <a:endParaRPr lang="en-US" sz="4800" dirty="0"/>
          </a:p>
        </p:txBody>
      </p:sp>
      <p:sp>
        <p:nvSpPr>
          <p:cNvPr id="3" name="Callout"/>
          <p:cNvSpPr txBox="1"/>
          <p:nvPr/>
        </p:nvSpPr>
        <p:spPr>
          <a:xfrm>
            <a:off x="822960" y="5394960"/>
            <a:ext cx="10515600" cy="822960"/>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Do this on your own</a:t>
            </a:r>
            <a:endParaRPr lang="en-US" sz="3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What is the Turing test?</a:t>
            </a:r>
            <a:endParaRPr lang="en-US" sz="4800" dirty="0"/>
          </a:p>
        </p:txBody>
      </p:sp>
      <p:sp>
        <p:nvSpPr>
          <p:cNvPr id="3" name="Question">
            <a:extLst>
              <a:ext uri="{FF2B5EF4-FFF2-40B4-BE49-F238E27FC236}">
                <a16:creationId xmlns:a16="http://schemas.microsoft.com/office/drawing/2014/main" id="{BD2CC058-B3D6-63FA-6C7D-699961673915}"/>
              </a:ext>
            </a:extLst>
          </p:cNvPr>
          <p:cNvSpPr txBox="1"/>
          <p:nvPr/>
        </p:nvSpPr>
        <p:spPr>
          <a:xfrm>
            <a:off x="822960" y="3813464"/>
            <a:ext cx="10515600" cy="2495896"/>
          </a:xfrm>
          <a:prstGeom prst="rect">
            <a:avLst/>
          </a:prstGeom>
          <a:noFill/>
          <a:ln/>
        </p:spPr>
        <p:txBody>
          <a:bodyPr wrap="square" lIns="0" tIns="0" rIns="0" bIns="0" rtlCol="0" anchor="t"/>
          <a:lstStyle/>
          <a:p>
            <a:pPr marL="0" indent="0" algn="l">
              <a:buNone/>
            </a:pPr>
            <a:r>
              <a:rPr lang="en-US" sz="3600" b="1" dirty="0">
                <a:solidFill>
                  <a:srgbClr val="E26310"/>
                </a:solidFill>
                <a:latin typeface="Arial" pitchFamily="34" charset="0"/>
                <a:ea typeface="Arial" pitchFamily="34" charset="-122"/>
                <a:cs typeface="Arial" pitchFamily="34" charset="-120"/>
              </a:rPr>
              <a:t>CAPTCHA: Completely Automated Public Turing test to tell Computers and Humans Apart.</a:t>
            </a:r>
            <a:br>
              <a:rPr lang="en-US" sz="3600" b="1" dirty="0">
                <a:solidFill>
                  <a:srgbClr val="E26310"/>
                </a:solidFill>
                <a:latin typeface="Arial" pitchFamily="34" charset="0"/>
                <a:ea typeface="Arial" pitchFamily="34" charset="-122"/>
                <a:cs typeface="Arial" pitchFamily="34" charset="-120"/>
              </a:rPr>
            </a:br>
            <a:br>
              <a:rPr lang="en-US" sz="3600" b="1" dirty="0">
                <a:solidFill>
                  <a:srgbClr val="E26310"/>
                </a:solidFill>
                <a:latin typeface="Arial" pitchFamily="34" charset="0"/>
                <a:ea typeface="Arial" pitchFamily="34" charset="-122"/>
                <a:cs typeface="Arial" pitchFamily="34" charset="-120"/>
              </a:rPr>
            </a:br>
            <a:r>
              <a:rPr lang="en-US" sz="3600" b="1" dirty="0">
                <a:solidFill>
                  <a:srgbClr val="E26310"/>
                </a:solidFill>
                <a:latin typeface="Arial" pitchFamily="34" charset="0"/>
                <a:ea typeface="Arial" pitchFamily="34" charset="-122"/>
                <a:cs typeface="Arial" pitchFamily="34" charset="-120"/>
              </a:rPr>
              <a:t>How well does this work?</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3F564-BB17-AB7A-4985-19B405D81317}"/>
            </a:ext>
          </a:extLst>
        </p:cNvPr>
        <p:cNvGrpSpPr/>
        <p:nvPr/>
      </p:nvGrpSpPr>
      <p:grpSpPr>
        <a:xfrm>
          <a:off x="0" y="0"/>
          <a:ext cx="0" cy="0"/>
          <a:chOff x="0" y="0"/>
          <a:chExt cx="0" cy="0"/>
        </a:xfrm>
      </p:grpSpPr>
      <p:sp>
        <p:nvSpPr>
          <p:cNvPr id="4" name="Prompt">
            <a:extLst>
              <a:ext uri="{FF2B5EF4-FFF2-40B4-BE49-F238E27FC236}">
                <a16:creationId xmlns:a16="http://schemas.microsoft.com/office/drawing/2014/main" id="{1C5E01CC-D6A0-7D88-5120-A86CEE5284C0}"/>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Discussion:  What did you learn from this section?</a:t>
            </a:r>
            <a:endParaRPr lang="en-US" sz="4400" dirty="0"/>
          </a:p>
        </p:txBody>
      </p:sp>
    </p:spTree>
    <p:extLst>
      <p:ext uri="{BB962C8B-B14F-4D97-AF65-F5344CB8AC3E}">
        <p14:creationId xmlns:p14="http://schemas.microsoft.com/office/powerpoint/2010/main" val="33812524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6000" b="1" dirty="0">
                <a:solidFill>
                  <a:srgbClr val="000000"/>
                </a:solidFill>
                <a:latin typeface="Arial" pitchFamily="34" charset="0"/>
                <a:ea typeface="Arial" pitchFamily="34" charset="-122"/>
                <a:cs typeface="Arial" pitchFamily="34" charset="-120"/>
              </a:rPr>
              <a:t>Requirement 5: Deepfakes</a:t>
            </a:r>
            <a:endParaRPr lang="en-US" sz="6000" dirty="0"/>
          </a:p>
        </p:txBody>
      </p:sp>
    </p:spTree>
    <p:extLst>
      <p:ext uri="{BB962C8B-B14F-4D97-AF65-F5344CB8AC3E}">
        <p14:creationId xmlns:p14="http://schemas.microsoft.com/office/powerpoint/2010/main" val="37688532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What is a deepfake?</a:t>
            </a:r>
            <a:endParaRPr lang="en-US" sz="4800" dirty="0"/>
          </a:p>
        </p:txBody>
      </p:sp>
      <p:sp>
        <p:nvSpPr>
          <p:cNvPr id="3" name="Detail"/>
          <p:cNvSpPr txBox="1"/>
          <p:nvPr/>
        </p:nvSpPr>
        <p:spPr>
          <a:xfrm>
            <a:off x="822960" y="3383280"/>
            <a:ext cx="10515600" cy="2743200"/>
          </a:xfrm>
          <a:prstGeom prst="rect">
            <a:avLst/>
          </a:prstGeom>
          <a:noFill/>
          <a:ln/>
        </p:spPr>
        <p:txBody>
          <a:bodyPr wrap="square" lIns="0" tIns="0" rIns="0" bIns="0" rtlCol="0" anchor="t"/>
          <a:lstStyle/>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How can it affect an individual?</a:t>
            </a:r>
            <a:endParaRPr lang="en-US" sz="3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What should you do if you or someone you know is affected by a deepfake?</a:t>
            </a:r>
            <a:endParaRPr lang="en-US" sz="4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000" b="1" dirty="0">
                <a:solidFill>
                  <a:srgbClr val="000000"/>
                </a:solidFill>
                <a:latin typeface="Arial" pitchFamily="34" charset="0"/>
                <a:ea typeface="Arial" pitchFamily="34" charset="-122"/>
                <a:cs typeface="Arial" pitchFamily="34" charset="-120"/>
              </a:rPr>
              <a:t>Requirement 6: Developing AI Skills</a:t>
            </a:r>
            <a:endParaRPr lang="en-US" sz="5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How does AI learn?</a:t>
            </a:r>
            <a:endParaRPr lang="en-US" sz="4800" dirty="0"/>
          </a:p>
        </p:txBody>
      </p:sp>
      <p:sp>
        <p:nvSpPr>
          <p:cNvPr id="3" name="Detail"/>
          <p:cNvSpPr txBox="1"/>
          <p:nvPr/>
        </p:nvSpPr>
        <p:spPr>
          <a:xfrm>
            <a:off x="822960" y="3383280"/>
            <a:ext cx="10515600" cy="2743200"/>
          </a:xfrm>
          <a:prstGeom prst="rect">
            <a:avLst/>
          </a:prstGeom>
          <a:noFill/>
          <a:ln/>
        </p:spPr>
        <p:txBody>
          <a:bodyPr wrap="square" lIns="0" tIns="0" rIns="0" bIns="0" rtlCol="0" anchor="t"/>
          <a:lstStyle/>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What are its limitations?</a:t>
            </a:r>
            <a:endParaRPr lang="en-US" sz="3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Five ways to communicate effectively with AI</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Prompt"/>
          <p:cNvSpPr txBox="1"/>
          <p:nvPr/>
        </p:nvSpPr>
        <p:spPr>
          <a:xfrm>
            <a:off x="822960" y="822960"/>
            <a:ext cx="10515600" cy="2377440"/>
          </a:xfrm>
          <a:prstGeom prst="rect">
            <a:avLst/>
          </a:prstGeom>
          <a:noFill/>
          <a:ln/>
        </p:spPr>
        <p:txBody>
          <a:bodyPr wrap="square" lIns="0" tIns="0" rIns="0" bIns="0" rtlCol="0" anchor="t"/>
          <a:lstStyle/>
          <a:p>
            <a:pPr marL="0" indent="0" algn="l">
              <a:buNone/>
            </a:pPr>
            <a:r>
              <a:rPr lang="en-US" sz="4800" b="1" dirty="0">
                <a:solidFill>
                  <a:srgbClr val="000000"/>
                </a:solidFill>
                <a:latin typeface="Arial" pitchFamily="34" charset="0"/>
                <a:ea typeface="Arial" pitchFamily="34" charset="-122"/>
                <a:cs typeface="Arial" pitchFamily="34" charset="-120"/>
              </a:rPr>
              <a:t>Why does prompt engineering matter?</a:t>
            </a:r>
            <a:endParaRPr lang="en-US" sz="4800" dirty="0"/>
          </a:p>
        </p:txBody>
      </p:sp>
      <p:sp>
        <p:nvSpPr>
          <p:cNvPr id="3" name="Detail"/>
          <p:cNvSpPr txBox="1"/>
          <p:nvPr/>
        </p:nvSpPr>
        <p:spPr>
          <a:xfrm>
            <a:off x="822960" y="3383280"/>
            <a:ext cx="10515600" cy="2743200"/>
          </a:xfrm>
          <a:prstGeom prst="rect">
            <a:avLst/>
          </a:prstGeom>
          <a:noFill/>
          <a:ln/>
        </p:spPr>
        <p:txBody>
          <a:bodyPr wrap="square" lIns="0" tIns="0" rIns="0" bIns="0" rtlCol="0" anchor="t"/>
          <a:lstStyle/>
          <a:p>
            <a:pPr marL="0" indent="0" algn="l">
              <a:spcAft>
                <a:spcPts val="1200"/>
              </a:spcAft>
              <a:buNone/>
            </a:pPr>
            <a:r>
              <a:rPr lang="en-US" sz="3400" dirty="0">
                <a:solidFill>
                  <a:srgbClr val="000000"/>
                </a:solidFill>
                <a:latin typeface="Arial" pitchFamily="34" charset="0"/>
                <a:ea typeface="Arial" pitchFamily="34" charset="-122"/>
                <a:cs typeface="Arial" pitchFamily="34" charset="-120"/>
              </a:rPr>
              <a:t>How does it help AI produce better output?</a:t>
            </a:r>
            <a:endParaRPr lang="en-US" sz="3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ompt"/>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Write clear instructions for a school-related task: three examples (1)</a:t>
            </a:r>
            <a:endParaRPr lang="en-US" sz="4400" dirty="0"/>
          </a:p>
        </p:txBody>
      </p:sp>
      <p:sp>
        <p:nvSpPr>
          <p:cNvPr id="3" name="Text 0"/>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1083-8B32-D67D-3127-4DFF6609AD88}"/>
            </a:ext>
          </a:extLst>
        </p:cNvPr>
        <p:cNvGrpSpPr/>
        <p:nvPr/>
      </p:nvGrpSpPr>
      <p:grpSpPr>
        <a:xfrm>
          <a:off x="0" y="0"/>
          <a:ext cx="0" cy="0"/>
          <a:chOff x="0" y="0"/>
          <a:chExt cx="0" cy="0"/>
        </a:xfrm>
      </p:grpSpPr>
      <p:sp>
        <p:nvSpPr>
          <p:cNvPr id="2" name="Prompt">
            <a:extLst>
              <a:ext uri="{FF2B5EF4-FFF2-40B4-BE49-F238E27FC236}">
                <a16:creationId xmlns:a16="http://schemas.microsoft.com/office/drawing/2014/main" id="{0C3E3A4B-F20A-032E-1328-2CDF7C0176FE}"/>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Write clear instructions for a school-related task: three examples (2)</a:t>
            </a:r>
            <a:endParaRPr lang="en-US" sz="4400" dirty="0"/>
          </a:p>
        </p:txBody>
      </p:sp>
      <p:sp>
        <p:nvSpPr>
          <p:cNvPr id="3" name="Text 0">
            <a:extLst>
              <a:ext uri="{FF2B5EF4-FFF2-40B4-BE49-F238E27FC236}">
                <a16:creationId xmlns:a16="http://schemas.microsoft.com/office/drawing/2014/main" id="{00979EFC-47F5-FAEF-F7CB-A655C1EDD126}"/>
              </a:ext>
            </a:extLst>
          </p:cNvPr>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extLst>
      <p:ext uri="{BB962C8B-B14F-4D97-AF65-F5344CB8AC3E}">
        <p14:creationId xmlns:p14="http://schemas.microsoft.com/office/powerpoint/2010/main" val="38961894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A990-865C-375F-76DA-688F69E29518}"/>
            </a:ext>
          </a:extLst>
        </p:cNvPr>
        <p:cNvGrpSpPr/>
        <p:nvPr/>
      </p:nvGrpSpPr>
      <p:grpSpPr>
        <a:xfrm>
          <a:off x="0" y="0"/>
          <a:ext cx="0" cy="0"/>
          <a:chOff x="0" y="0"/>
          <a:chExt cx="0" cy="0"/>
        </a:xfrm>
      </p:grpSpPr>
      <p:sp>
        <p:nvSpPr>
          <p:cNvPr id="2" name="Prompt">
            <a:extLst>
              <a:ext uri="{FF2B5EF4-FFF2-40B4-BE49-F238E27FC236}">
                <a16:creationId xmlns:a16="http://schemas.microsoft.com/office/drawing/2014/main" id="{5E7E624B-A050-DF40-0BA4-86E31F997E17}"/>
              </a:ext>
            </a:extLst>
          </p:cNvPr>
          <p:cNvSpPr txBox="1"/>
          <p:nvPr/>
        </p:nvSpPr>
        <p:spPr>
          <a:xfrm>
            <a:off x="822960" y="548640"/>
            <a:ext cx="10515600" cy="1920240"/>
          </a:xfrm>
          <a:prstGeom prst="rect">
            <a:avLst/>
          </a:prstGeom>
          <a:noFill/>
          <a:ln/>
        </p:spPr>
        <p:txBody>
          <a:bodyPr wrap="square" lIns="0" tIns="0" rIns="0" bIns="0" rtlCol="0" anchor="t"/>
          <a:lstStyle/>
          <a:p>
            <a:pPr marL="0" indent="0" algn="l">
              <a:buNone/>
            </a:pPr>
            <a:r>
              <a:rPr lang="en-US" sz="4400" b="1" dirty="0">
                <a:solidFill>
                  <a:srgbClr val="000000"/>
                </a:solidFill>
                <a:latin typeface="Arial" pitchFamily="34" charset="0"/>
                <a:ea typeface="Arial" pitchFamily="34" charset="-122"/>
                <a:cs typeface="Arial" pitchFamily="34" charset="-120"/>
              </a:rPr>
              <a:t>Write clear instructions for a school-related task: three </a:t>
            </a:r>
            <a:r>
              <a:rPr lang="en-US" sz="4400" b="1">
                <a:solidFill>
                  <a:srgbClr val="000000"/>
                </a:solidFill>
                <a:latin typeface="Arial" pitchFamily="34" charset="0"/>
                <a:ea typeface="Arial" pitchFamily="34" charset="-122"/>
                <a:cs typeface="Arial" pitchFamily="34" charset="-120"/>
              </a:rPr>
              <a:t>examples (3)</a:t>
            </a:r>
            <a:endParaRPr lang="en-US" sz="4400" dirty="0"/>
          </a:p>
        </p:txBody>
      </p:sp>
      <p:sp>
        <p:nvSpPr>
          <p:cNvPr id="3" name="Text 0">
            <a:extLst>
              <a:ext uri="{FF2B5EF4-FFF2-40B4-BE49-F238E27FC236}">
                <a16:creationId xmlns:a16="http://schemas.microsoft.com/office/drawing/2014/main" id="{393F98E8-F7FD-4D17-6243-296BF1A322C7}"/>
              </a:ext>
            </a:extLst>
          </p:cNvPr>
          <p:cNvSpPr>
            <a:spLocks noGrp="1"/>
          </p:cNvSpPr>
          <p:nvPr>
            <p:ph type="body" idx="100" hasCustomPrompt="1"/>
          </p:nvPr>
        </p:nvSpPr>
        <p:spPr>
          <a:xfrm>
            <a:off x="822960" y="2651760"/>
            <a:ext cx="10515600" cy="3657600"/>
          </a:xfrm>
          <a:prstGeom prst="rect">
            <a:avLst/>
          </a:prstGeom>
          <a:noFill/>
          <a:ln/>
        </p:spPr>
        <p:txBody>
          <a:bodyPr wrap="square" rtlCol="0" anchor="t"/>
          <a:lstStyle/>
          <a:p>
            <a:pPr marL="342900" indent="-342900">
              <a:buSzPct val="100000"/>
              <a:buChar char="•"/>
            </a:pPr>
            <a:endParaRPr lang="en-US" sz="3000" dirty="0"/>
          </a:p>
        </p:txBody>
      </p:sp>
    </p:spTree>
    <p:extLst>
      <p:ext uri="{BB962C8B-B14F-4D97-AF65-F5344CB8AC3E}">
        <p14:creationId xmlns:p14="http://schemas.microsoft.com/office/powerpoint/2010/main" val="33292850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000" b="1" dirty="0">
                <a:solidFill>
                  <a:srgbClr val="000000"/>
                </a:solidFill>
                <a:latin typeface="Arial" pitchFamily="34" charset="0"/>
                <a:ea typeface="Arial" pitchFamily="34" charset="-122"/>
                <a:cs typeface="Arial" pitchFamily="34" charset="-120"/>
              </a:rPr>
              <a:t>Requirement 7: Practical Application</a:t>
            </a:r>
            <a:endParaRPr lang="en-US" sz="5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txBox="1"/>
          <p:nvPr/>
        </p:nvSpPr>
        <p:spPr>
          <a:xfrm>
            <a:off x="822960" y="411480"/>
            <a:ext cx="10515600" cy="457200"/>
          </a:xfrm>
          <a:prstGeom prst="rect">
            <a:avLst/>
          </a:prstGeom>
          <a:noFill/>
          <a:ln/>
        </p:spPr>
        <p:txBody>
          <a:bodyPr wrap="square" lIns="0" tIns="0" rIns="0" bIns="0" rtlCol="0" anchor="t"/>
          <a:lstStyle/>
          <a:p>
            <a:pPr marL="0" indent="0" algn="l">
              <a:buNone/>
            </a:pPr>
            <a:r>
              <a:rPr lang="en-US" sz="2200" b="1" dirty="0">
                <a:solidFill>
                  <a:srgbClr val="E26310"/>
                </a:solidFill>
                <a:latin typeface="Arial" pitchFamily="34" charset="0"/>
                <a:ea typeface="Arial" pitchFamily="34" charset="-122"/>
                <a:cs typeface="Arial" pitchFamily="34" charset="-120"/>
              </a:rPr>
              <a:t>Requirement 7</a:t>
            </a:r>
            <a:endParaRPr lang="en-US" sz="2200" dirty="0"/>
          </a:p>
        </p:txBody>
      </p:sp>
      <p:sp>
        <p:nvSpPr>
          <p:cNvPr id="3" name="Title"/>
          <p:cNvSpPr txBox="1"/>
          <p:nvPr/>
        </p:nvSpPr>
        <p:spPr>
          <a:xfrm>
            <a:off x="822960" y="868680"/>
            <a:ext cx="10515600" cy="822960"/>
          </a:xfrm>
          <a:prstGeom prst="rect">
            <a:avLst/>
          </a:prstGeom>
          <a:noFill/>
          <a:ln/>
        </p:spPr>
        <p:txBody>
          <a:bodyPr wrap="square" lIns="0" tIns="0" rIns="0" bIns="0" rtlCol="0" anchor="t"/>
          <a:lstStyle/>
          <a:p>
            <a:pPr marL="0" indent="0" algn="l">
              <a:buNone/>
            </a:pPr>
            <a:r>
              <a:rPr lang="en-US" sz="4000" b="1" dirty="0">
                <a:solidFill>
                  <a:srgbClr val="000000"/>
                </a:solidFill>
                <a:latin typeface="Arial" pitchFamily="34" charset="0"/>
                <a:ea typeface="Arial" pitchFamily="34" charset="-122"/>
                <a:cs typeface="Arial" pitchFamily="34" charset="-120"/>
              </a:rPr>
              <a:t>Do ONE of these on your own</a:t>
            </a:r>
            <a:endParaRPr lang="en-US" sz="4000" dirty="0"/>
          </a:p>
        </p:txBody>
      </p:sp>
      <p:sp>
        <p:nvSpPr>
          <p:cNvPr id="4" name="OptionA"/>
          <p:cNvSpPr txBox="1"/>
          <p:nvPr/>
        </p:nvSpPr>
        <p:spPr>
          <a:xfrm>
            <a:off x="822960" y="1920240"/>
            <a:ext cx="5074920" cy="448056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(a) With your counselor’s approval, choose an artificial intelligence project based on your personal interest or a community need. Develop a plan outlining the project’s objectives, data requirements, and potential ethical considerations. Implement the project utilizing appropriate artificial intelligence tools, languages, or platforms. Share your project with your counselor. Discuss the steps you followed to create the project and your experience during the process.</a:t>
            </a:r>
            <a:endParaRPr lang="en-US" sz="2000" dirty="0"/>
          </a:p>
        </p:txBody>
      </p:sp>
      <p:sp>
        <p:nvSpPr>
          <p:cNvPr id="5" name="OptionB"/>
          <p:cNvSpPr txBox="1"/>
          <p:nvPr/>
        </p:nvSpPr>
        <p:spPr>
          <a:xfrm>
            <a:off x="6263640" y="1920240"/>
            <a:ext cx="5074920" cy="448056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(b) With your counselor’s approval, design a short lesson plan on AI and teach it to your patrol or a group of Scouts. The lesson should include an AI-generated age-appropriate explanation of AI, examples of how AI is used in both everyday life as well as in the workplace, and an interactive demonstration of how Scouts could utilize AI to assist them with a school assignment, Scouting activity, or rank advancement. Share information on the development process and teaching experience with your counselor.</a:t>
            </a: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5000" b="1" dirty="0">
                <a:solidFill>
                  <a:srgbClr val="000000"/>
                </a:solidFill>
                <a:latin typeface="Arial" pitchFamily="34" charset="0"/>
                <a:ea typeface="Arial" pitchFamily="34" charset="-122"/>
                <a:cs typeface="Arial" pitchFamily="34" charset="-120"/>
              </a:rPr>
              <a:t>Requirement 8: Career Exploration</a:t>
            </a:r>
            <a:endParaRPr lang="en-US" sz="5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Label"/>
          <p:cNvSpPr txBox="1"/>
          <p:nvPr/>
        </p:nvSpPr>
        <p:spPr>
          <a:xfrm>
            <a:off x="822960" y="411480"/>
            <a:ext cx="10515600" cy="457200"/>
          </a:xfrm>
          <a:prstGeom prst="rect">
            <a:avLst/>
          </a:prstGeom>
          <a:noFill/>
          <a:ln/>
        </p:spPr>
        <p:txBody>
          <a:bodyPr wrap="square" lIns="0" tIns="0" rIns="0" bIns="0" rtlCol="0" anchor="t"/>
          <a:lstStyle/>
          <a:p>
            <a:pPr marL="0" indent="0" algn="l">
              <a:buNone/>
            </a:pPr>
            <a:r>
              <a:rPr lang="en-US" sz="2200" b="1" dirty="0">
                <a:solidFill>
                  <a:srgbClr val="E26310"/>
                </a:solidFill>
                <a:latin typeface="Arial" pitchFamily="34" charset="0"/>
                <a:ea typeface="Arial" pitchFamily="34" charset="-122"/>
                <a:cs typeface="Arial" pitchFamily="34" charset="-120"/>
              </a:rPr>
              <a:t>Requirement 8</a:t>
            </a:r>
            <a:endParaRPr lang="en-US" sz="2200" dirty="0"/>
          </a:p>
        </p:txBody>
      </p:sp>
      <p:sp>
        <p:nvSpPr>
          <p:cNvPr id="3" name="Title"/>
          <p:cNvSpPr txBox="1"/>
          <p:nvPr/>
        </p:nvSpPr>
        <p:spPr>
          <a:xfrm>
            <a:off x="822960" y="868680"/>
            <a:ext cx="10515600" cy="822960"/>
          </a:xfrm>
          <a:prstGeom prst="rect">
            <a:avLst/>
          </a:prstGeom>
          <a:noFill/>
          <a:ln/>
        </p:spPr>
        <p:txBody>
          <a:bodyPr wrap="square" lIns="0" tIns="0" rIns="0" bIns="0" rtlCol="0" anchor="t"/>
          <a:lstStyle/>
          <a:p>
            <a:pPr marL="0" indent="0" algn="l">
              <a:buNone/>
            </a:pPr>
            <a:r>
              <a:rPr lang="en-US" sz="4000" b="1" dirty="0">
                <a:solidFill>
                  <a:srgbClr val="000000"/>
                </a:solidFill>
                <a:latin typeface="Arial" pitchFamily="34" charset="0"/>
                <a:ea typeface="Arial" pitchFamily="34" charset="-122"/>
                <a:cs typeface="Arial" pitchFamily="34" charset="-120"/>
              </a:rPr>
              <a:t>Do ONE of these on your own</a:t>
            </a:r>
            <a:endParaRPr lang="en-US" sz="4000" dirty="0"/>
          </a:p>
        </p:txBody>
      </p:sp>
      <p:sp>
        <p:nvSpPr>
          <p:cNvPr id="4" name="OptionA"/>
          <p:cNvSpPr txBox="1"/>
          <p:nvPr/>
        </p:nvSpPr>
        <p:spPr>
          <a:xfrm>
            <a:off x="822960" y="1920240"/>
            <a:ext cx="5074920" cy="448056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(a) Identify three career opportunities that would use skills and knowledge in artificial intelligence or automation. Pick one and research the training, education, certification requirements, experience, and expenses associated with entering the field. Research the prospects for employment, starting salary, advancement opportunities, and career goals associated with this career. Discuss what you learned with your counselor and whether you might be interested in this career.</a:t>
            </a:r>
            <a:endParaRPr lang="en-US" sz="2000" dirty="0"/>
          </a:p>
        </p:txBody>
      </p:sp>
      <p:sp>
        <p:nvSpPr>
          <p:cNvPr id="5" name="OptionB"/>
          <p:cNvSpPr txBox="1"/>
          <p:nvPr/>
        </p:nvSpPr>
        <p:spPr>
          <a:xfrm>
            <a:off x="6263640" y="1920240"/>
            <a:ext cx="5074920" cy="448056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(b) Interview an artificial intelligence or automation professional. Learn about their day-to-day work, the challenges they face, and their vision for the future of artificial intelligence or automation. Inquire about training, education, certification requirements, experience, and expenses associated with entering the field. Share what you learned with your counselor.</a:t>
            </a:r>
            <a:endParaRPr lang="en-US" sz="2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Heading"/>
          <p:cNvSpPr txBox="1"/>
          <p:nvPr/>
        </p:nvSpPr>
        <p:spPr>
          <a:xfrm>
            <a:off x="822960" y="1371600"/>
            <a:ext cx="10515600" cy="4114800"/>
          </a:xfrm>
          <a:prstGeom prst="rect">
            <a:avLst/>
          </a:prstGeom>
          <a:noFill/>
          <a:ln/>
        </p:spPr>
        <p:txBody>
          <a:bodyPr wrap="square" lIns="0" tIns="0" rIns="0" bIns="0" rtlCol="0" anchor="ctr"/>
          <a:lstStyle/>
          <a:p>
            <a:pPr marL="0" indent="0" algn="ctr">
              <a:buNone/>
            </a:pPr>
            <a:r>
              <a:rPr lang="en-US" sz="6000" b="1" dirty="0">
                <a:solidFill>
                  <a:srgbClr val="000000"/>
                </a:solidFill>
                <a:latin typeface="Arial" pitchFamily="34" charset="0"/>
                <a:ea typeface="Arial" pitchFamily="34" charset="-122"/>
                <a:cs typeface="Arial" pitchFamily="34" charset="-120"/>
              </a:rPr>
              <a:t>Wrap-up</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1822</Words>
  <Application>Microsoft Macintosh PowerPoint</Application>
  <PresentationFormat>Widescreen</PresentationFormat>
  <Paragraphs>268</Paragraphs>
  <Slides>83</Slides>
  <Notes>78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83</vt:i4>
      </vt:variant>
    </vt:vector>
  </HeadingPairs>
  <TitlesOfParts>
    <vt:vector size="8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Merit Badge</dc:title>
  <dc:subject>PptxGenJS Presentation</dc:subject>
  <dc:creator>PptxGenJS</dc:creator>
  <cp:lastModifiedBy>Bruce Wilson</cp:lastModifiedBy>
  <cp:revision>11</cp:revision>
  <dcterms:created xsi:type="dcterms:W3CDTF">2026-10-02T11:50:05Z</dcterms:created>
  <dcterms:modified xsi:type="dcterms:W3CDTF">2026-10-04T00:21:15Z</dcterms:modified>
</cp:coreProperties>
</file>